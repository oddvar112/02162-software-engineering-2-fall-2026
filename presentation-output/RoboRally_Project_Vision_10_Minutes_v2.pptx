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86788f3c44749ea" /><Relationship Type="http://schemas.openxmlformats.org/officeDocument/2006/relationships/extended-properties" Target="/docProps/app.xml" Id="R871f15c9ffe04890" /><Relationship Type="http://schemas.openxmlformats.org/officeDocument/2006/relationships/officeDocument" Target="/ppt/presentation.xml" Id="Rcb20f2964ebb4442" /></Relationships>
</file>

<file path=ppt/presentation.xml><?xml version="1.0" encoding="utf-8"?>
<p:presentation xmlns:p="http://schemas.openxmlformats.org/presentationml/2006/main">
  <p:sldMasterIdLst>
    <p:sldMasterId xmlns:r="http://schemas.openxmlformats.org/officeDocument/2006/relationships" id="2147483648" r:id="R4998ff41323049f1"/>
  </p:sldMasterIdLst>
  <p:notesMasterIdLst>
    <p:notesMasterId xmlns:r="http://schemas.openxmlformats.org/officeDocument/2006/relationships" r:id="R442ecaab42e24f66"/>
  </p:notesMasterIdLst>
  <p:sldIdLst>
    <p:sldId xmlns:r="http://schemas.openxmlformats.org/officeDocument/2006/relationships" id="256" r:id="R87d9053f590c4c54"/>
    <p:sldId xmlns:r="http://schemas.openxmlformats.org/officeDocument/2006/relationships" id="257" r:id="Radab36c463f847e0"/>
    <p:sldId xmlns:r="http://schemas.openxmlformats.org/officeDocument/2006/relationships" id="258" r:id="R19a1f60d8da74ffe"/>
    <p:sldId xmlns:r="http://schemas.openxmlformats.org/officeDocument/2006/relationships" id="259" r:id="Rc30fd1f1436e42fa"/>
    <p:sldId xmlns:r="http://schemas.openxmlformats.org/officeDocument/2006/relationships" id="260" r:id="Rac6c6535cc0849f8"/>
    <p:sldId xmlns:r="http://schemas.openxmlformats.org/officeDocument/2006/relationships" id="261" r:id="R447890d60f414fc8"/>
    <p:sldId xmlns:r="http://schemas.openxmlformats.org/officeDocument/2006/relationships" id="262" r:id="Rbc72c8441b8949f9"/>
    <p:sldId xmlns:r="http://schemas.openxmlformats.org/officeDocument/2006/relationships" id="263" r:id="R105118d5c64c40e6"/>
    <p:sldId xmlns:r="http://schemas.openxmlformats.org/officeDocument/2006/relationships" id="264" r:id="Rd4d34d8458194a57"/>
    <p:sldId xmlns:r="http://schemas.openxmlformats.org/officeDocument/2006/relationships" id="265" r:id="Rc5c89ef96e4e481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981db51f1ba47f3" /><Relationship Type="http://schemas.openxmlformats.org/officeDocument/2006/relationships/slideMaster" Target="/ppt/slideMasters/slideMaster1.xml" Id="R4998ff41323049f1" /><Relationship Type="http://schemas.openxmlformats.org/officeDocument/2006/relationships/notesMaster" Target="/ppt/notesMasters/notesMaster1.xml" Id="R442ecaab42e24f66" /><Relationship Type="http://schemas.openxmlformats.org/officeDocument/2006/relationships/presProps" Target="/ppt/presProps.xml" Id="Re8e75a9c8f5847b2" /><Relationship Type="http://schemas.openxmlformats.org/officeDocument/2006/relationships/tableStyles" Target="/ppt/tableStyles.xml" Id="R04960a3be9994332" /><Relationship Type="http://schemas.openxmlformats.org/officeDocument/2006/relationships/slide" Target="/ppt/slides/slide1.xml" Id="R87d9053f590c4c54" /><Relationship Type="http://schemas.openxmlformats.org/officeDocument/2006/relationships/slide" Target="/ppt/slides/slide2.xml" Id="Radab36c463f847e0" /><Relationship Type="http://schemas.openxmlformats.org/officeDocument/2006/relationships/slide" Target="/ppt/slides/slide3.xml" Id="R19a1f60d8da74ffe" /><Relationship Type="http://schemas.openxmlformats.org/officeDocument/2006/relationships/slide" Target="/ppt/slides/slide4.xml" Id="Rc30fd1f1436e42fa" /><Relationship Type="http://schemas.openxmlformats.org/officeDocument/2006/relationships/slide" Target="/ppt/slides/slide5.xml" Id="Rac6c6535cc0849f8" /><Relationship Type="http://schemas.openxmlformats.org/officeDocument/2006/relationships/slide" Target="/ppt/slides/slide6.xml" Id="R447890d60f414fc8" /><Relationship Type="http://schemas.openxmlformats.org/officeDocument/2006/relationships/slide" Target="/ppt/slides/slide7.xml" Id="Rbc72c8441b8949f9" /><Relationship Type="http://schemas.openxmlformats.org/officeDocument/2006/relationships/slide" Target="/ppt/slides/slide8.xml" Id="R105118d5c64c40e6" /><Relationship Type="http://schemas.openxmlformats.org/officeDocument/2006/relationships/slide" Target="/ppt/slides/slide9.xml" Id="Rd4d34d8458194a57" /><Relationship Type="http://schemas.openxmlformats.org/officeDocument/2006/relationships/slide" Target="/ppt/slides/slide10.xml" Id="Rc5c89ef96e4e481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4ab7505216a4a7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d62c75f205b4db0" /><Relationship Type="http://schemas.openxmlformats.org/officeDocument/2006/relationships/notesMaster" Target="/ppt/notesMasters/notesMaster1.xml" Id="Rdf027f80985d458c" /></Relationships>
</file>

<file path=ppt/notesSlides/_rels/notesSlide2.xml.rels>&#65279;<?xml version="1.0" encoding="utf-8"?><Relationships xmlns="http://schemas.openxmlformats.org/package/2006/relationships"><Relationship Type="http://schemas.openxmlformats.org/officeDocument/2006/relationships/slide" Target="/ppt/slides/slide2.xml" Id="Rd21ffa1732b74818" /><Relationship Type="http://schemas.openxmlformats.org/officeDocument/2006/relationships/notesMaster" Target="/ppt/notesMasters/notesMaster1.xml" Id="R20aa5bbd954f4852" /></Relationships>
</file>

<file path=ppt/notesSlides/_rels/notesSlide3.xml.rels>&#65279;<?xml version="1.0" encoding="utf-8"?><Relationships xmlns="http://schemas.openxmlformats.org/package/2006/relationships"><Relationship Type="http://schemas.openxmlformats.org/officeDocument/2006/relationships/slide" Target="/ppt/slides/slide3.xml" Id="R3c6312631ebf4c9d" /><Relationship Type="http://schemas.openxmlformats.org/officeDocument/2006/relationships/notesMaster" Target="/ppt/notesMasters/notesMaster1.xml" Id="R96daab63f88346aa" /></Relationships>
</file>

<file path=ppt/notesSlides/_rels/notesSlide4.xml.rels>&#65279;<?xml version="1.0" encoding="utf-8"?><Relationships xmlns="http://schemas.openxmlformats.org/package/2006/relationships"><Relationship Type="http://schemas.openxmlformats.org/officeDocument/2006/relationships/slide" Target="/ppt/slides/slide4.xml" Id="R445dcacca61f40f5" /><Relationship Type="http://schemas.openxmlformats.org/officeDocument/2006/relationships/notesMaster" Target="/ppt/notesMasters/notesMaster1.xml" Id="R9bb96a637bf94be6" /></Relationships>
</file>

<file path=ppt/notesSlides/_rels/notesSlide5.xml.rels>&#65279;<?xml version="1.0" encoding="utf-8"?><Relationships xmlns="http://schemas.openxmlformats.org/package/2006/relationships"><Relationship Type="http://schemas.openxmlformats.org/officeDocument/2006/relationships/slide" Target="/ppt/slides/slide5.xml" Id="R95f5313f6d1243bd" /><Relationship Type="http://schemas.openxmlformats.org/officeDocument/2006/relationships/notesMaster" Target="/ppt/notesMasters/notesMaster1.xml" Id="Rd717ecb9ce8a4f61" /></Relationships>
</file>

<file path=ppt/notesSlides/_rels/notesSlide6.xml.rels>&#65279;<?xml version="1.0" encoding="utf-8"?><Relationships xmlns="http://schemas.openxmlformats.org/package/2006/relationships"><Relationship Type="http://schemas.openxmlformats.org/officeDocument/2006/relationships/slide" Target="/ppt/slides/slide6.xml" Id="R167881c5f02e459f" /><Relationship Type="http://schemas.openxmlformats.org/officeDocument/2006/relationships/notesMaster" Target="/ppt/notesMasters/notesMaster1.xml" Id="R7ff12626e310401d" /></Relationships>
</file>

<file path=ppt/notesSlides/_rels/notesSlide7.xml.rels>&#65279;<?xml version="1.0" encoding="utf-8"?><Relationships xmlns="http://schemas.openxmlformats.org/package/2006/relationships"><Relationship Type="http://schemas.openxmlformats.org/officeDocument/2006/relationships/slide" Target="/ppt/slides/slide7.xml" Id="R608f24004aa443f4" /><Relationship Type="http://schemas.openxmlformats.org/officeDocument/2006/relationships/notesMaster" Target="/ppt/notesMasters/notesMaster1.xml" Id="R2df9e7d0d7a84523" /></Relationships>
</file>

<file path=ppt/notesSlides/_rels/notesSlide8.xml.rels>&#65279;<?xml version="1.0" encoding="utf-8"?><Relationships xmlns="http://schemas.openxmlformats.org/package/2006/relationships"><Relationship Type="http://schemas.openxmlformats.org/officeDocument/2006/relationships/slide" Target="/ppt/slides/slide8.xml" Id="Rc5a03f9972134388" /><Relationship Type="http://schemas.openxmlformats.org/officeDocument/2006/relationships/notesMaster" Target="/ppt/notesMasters/notesMaster1.xml" Id="R31700e82ffeb4f0d" /></Relationships>
</file>

<file path=ppt/notesSlides/_rels/notesSlide9.xml.rels>&#65279;<?xml version="1.0" encoding="utf-8"?><Relationships xmlns="http://schemas.openxmlformats.org/package/2006/relationships"><Relationship Type="http://schemas.openxmlformats.org/officeDocument/2006/relationships/slide" Target="/ppt/slides/slide9.xml" Id="Rf220f7d50dbf42a7" /><Relationship Type="http://schemas.openxmlformats.org/officeDocument/2006/relationships/notesMaster" Target="/ppt/notesMasters/notesMaster1.xml" Id="R73c40da043e54fb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bb7ff0f80004c9d" /><Relationship Type="http://schemas.openxmlformats.org/officeDocument/2006/relationships/notesMaster" Target="/ppt/notesMasters/notesMaster1.xml" Id="R1afa6abf3c994ea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everyone. We are Group E, and our project is a web version of RoboRally. Our goal is to keep the social, chaotic feeling of the physical board game while making it easier to start, follow and play remotely. I will focus on the product vision and the player experience, rather than the technical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problem is not the game itself. The problem is the friction around it. Everyone must be in the same place, setup takes time, and players must manually track cards, checkpoints, damage and exact execution order. A small mistake can interrupt the round and create an argument about the correct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vision is a shared 3D board that still feels like a real board game. Players join remotely and see the same game state. The software resolves movement, hazards and progress consistently. It removes administration, but it keeps the uncertainty that creates RoboRally's funniest moments.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board is the shared centre of the experience. Players should immediately see every robot's position and direction. The interface then explains the current phase, public status and checkpoint progress. Action cards replace physical card handling. This lets players concentrate on planning instead of maintaining the game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Imagine Alex joining a game. Alex first reads the shared board, then privately chooses five cards and locks the program. Once everyone is ready, the programs reveal and execute in priority order. Board elements activate, progress updates, and every player receives the same resulting state. The outcome can still be chaotic, but the resolution is clear.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screen is a product mockup of the intended player experience. The board occupies the centre, robot directions are visible, player status appears to the side, and the action cards sit close to the play area. The mockup demonstrates the vision. It is not a presentation about Three.js, Next.js or backend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Release 1, we narrow the vision to one complete shared loop. Players need to see the state, choose cards privately, execute programs automatically, apply board effects and continue from a synchronized result. Robot classes, custom decks, adaptive boards and progression remain possible extensions. We should only commit to them after the core loop works well.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six stories convert the vision into Release 1 work. A player sees the shared state, programs privately, and watches priority-based execution. The game applies board rules, tracks damage and checkpoint progress, and synchronizes the final state. Together they describe one coherent playable round rather than a collection of disconnected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scoped model gives the team a shared vocabulary for Release 1. A game has players, a board and a current round or phase. A player creates a program and controls a robot. Programs contain action cards. Robots occupy tiles, while the board contains tiles and board elements. The model stays intentionally small and avoids implementation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Release 1 succeeds when a complete round runs from private card selection to one synchronized result without manual rule checking. Players should understand what is happening, and the system should resolve the rules consistently. That gives us a strong foundation for every later extension. Thank you. We are ready for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20f649bc86c4c6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509bff3f1374e65" /><Relationship Type="http://schemas.openxmlformats.org/officeDocument/2006/relationships/slideLayout" Target="/ppt/slideLayouts/slideLayout1.xml" Id="R31f123baf69c40b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1f123baf69c40b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a360985a9a344b3" /><Relationship Type="http://schemas.openxmlformats.org/officeDocument/2006/relationships/notesSlide" Target="/ppt/notesSlides/notesSlide1.xml" Id="R66e61e20d2fe4d5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e736097908b494d" /><Relationship Type="http://schemas.openxmlformats.org/officeDocument/2006/relationships/notesSlide" Target="/ppt/notesSlides/notesSlide2.xml" Id="R2da342f76c9540e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884b4cc626a4d6a" /><Relationship Type="http://schemas.openxmlformats.org/officeDocument/2006/relationships/notesSlide" Target="/ppt/notesSlides/notesSlide3.xml" Id="Re249be4012574fc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54a144445fb41d3" /><Relationship Type="http://schemas.openxmlformats.org/officeDocument/2006/relationships/notesSlide" Target="/ppt/notesSlides/notesSlide4.xml" Id="R189b989e040c4ad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9fac8766fe04052" /><Relationship Type="http://schemas.openxmlformats.org/officeDocument/2006/relationships/notesSlide" Target="/ppt/notesSlides/notesSlide5.xml" Id="Rd78bb4040a7b4b2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12a81f0fd6f4f71" /><Relationship Type="http://schemas.openxmlformats.org/officeDocument/2006/relationships/image" Target="/ppt/media/image.png" Id="R403663b3191d44d8" /><Relationship Type="http://schemas.openxmlformats.org/officeDocument/2006/relationships/notesSlide" Target="/ppt/notesSlides/notesSlide6.xml" Id="R0cb85bd6aed0402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8752dd1dda94c2d" /><Relationship Type="http://schemas.openxmlformats.org/officeDocument/2006/relationships/notesSlide" Target="/ppt/notesSlides/notesSlide7.xml" Id="Re6e2e5f9f256486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7d690bbc8b14004" /><Relationship Type="http://schemas.openxmlformats.org/officeDocument/2006/relationships/notesSlide" Target="/ppt/notesSlides/notesSlide8.xml" Id="R566722c20b6e48e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48251c002ea4bf5" /><Relationship Type="http://schemas.openxmlformats.org/officeDocument/2006/relationships/notesSlide" Target="/ppt/notesSlides/notesSlide9.xml" Id="Rd28da4815e8849d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3822d357fa548be" /><Relationship Type="http://schemas.openxmlformats.org/officeDocument/2006/relationships/notesSlide" Target="/ppt/notesSlides/notesSlide10.xml" Id="R8ab0122c11304a6f" /></Relationships>
</file>

<file path=ppt/slides/slide1.xml><?xml version="1.0" encoding="utf-8"?>
<p:sld xmlns:p="http://schemas.openxmlformats.org/presentationml/2006/main">
  <p:cSld>
    <p:bg>
      <p:bgPr>
        <a:solidFill xmlns:a="http://schemas.openxmlformats.org/drawingml/2006/main">
          <a:srgbClr val="090E0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D824730-F554-4861-8AD1-36F628E937AF}"/>
              </a:ext>
            </a:extLst>
          </p:cNvPr>
          <p:cNvSpPr>
            <a:spLocks xmlns:a="http://schemas.openxmlformats.org/drawingml/2006/main" noGrp="1"/>
          </p:cNvSpPr>
          <p:nvPr/>
        </p:nvSpPr>
        <p:spPr>
          <a:xfrm xmlns:a="http://schemas.openxmlformats.org/drawingml/2006/main">
            <a:off x="609600" y="45720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a:solidFill>
                  <a:srgbClr val="B6FF3B"/>
                </a:solidFill>
                <a:latin typeface="Menlo"/>
                <a:ea typeface="Menlo"/>
                <a:cs typeface="Menlo"/>
              </a:defRPr>
            </a:pPr>
            <a:r>
              <a:rPr sz="1050" b="1">
                <a:solidFill>
                  <a:srgbClr val="B6FF3B"/>
                </a:solidFill>
                <a:latin typeface="Menlo"/>
                <a:ea typeface="Menlo"/>
                <a:cs typeface="Menlo"/>
              </a:rPr>
              <a:t>SYS::RR-02162 / GROUP E</a:t>
            </a:r>
          </a:p>
        </p:txBody>
      </p:sp>
      <p:sp>
        <p:nvSpPr>
          <p:cNvPr id="2" name="">
            <a:extLst xmlns:a="http://schemas.openxmlformats.org/drawingml/2006/main">
              <a:ext uri="{FF2B5EF4-FFF2-40B4-BE49-F238E27FC236}">
                <a16:creationId xmlns:a16="http://schemas.microsoft.com/office/drawing/2014/main" id="{8B0E8775-D91C-4DF5-8234-62613A768C5D}"/>
              </a:ext>
            </a:extLst>
          </p:cNvPr>
          <p:cNvSpPr>
            <a:spLocks xmlns:a="http://schemas.openxmlformats.org/drawingml/2006/main" noGrp="1"/>
          </p:cNvSpPr>
          <p:nvPr/>
        </p:nvSpPr>
        <p:spPr>
          <a:xfrm xmlns:a="http://schemas.openxmlformats.org/drawingml/2006/main">
            <a:off x="609600" y="876300"/>
            <a:ext cx="109728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3" name="">
            <a:extLst xmlns:a="http://schemas.openxmlformats.org/drawingml/2006/main">
              <a:ext uri="{FF2B5EF4-FFF2-40B4-BE49-F238E27FC236}">
                <a16:creationId xmlns:a16="http://schemas.microsoft.com/office/drawing/2014/main" id="{56D02B83-D335-456F-929D-CA900FCD8B53}"/>
              </a:ext>
            </a:extLst>
          </p:cNvPr>
          <p:cNvSpPr>
            <a:spLocks xmlns:a="http://schemas.openxmlformats.org/drawingml/2006/main" noGrp="1"/>
          </p:cNvSpPr>
          <p:nvPr/>
        </p:nvSpPr>
        <p:spPr>
          <a:xfrm xmlns:a="http://schemas.openxmlformats.org/drawingml/2006/main">
            <a:off x="609600" y="1257300"/>
            <a:ext cx="7239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400" b="1">
                <a:solidFill>
                  <a:srgbClr val="F1F5F2"/>
                </a:solidFill>
                <a:latin typeface="Roboto"/>
                <a:ea typeface="Roboto"/>
                <a:cs typeface="Roboto"/>
              </a:defRPr>
            </a:pPr>
            <a:r>
              <a:rPr sz="5400" b="1">
                <a:solidFill>
                  <a:srgbClr val="F1F5F2"/>
                </a:solidFill>
                <a:latin typeface="Roboto"/>
                <a:ea typeface="Roboto"/>
                <a:cs typeface="Roboto"/>
              </a:rPr>
              <a:t>RoboRally</a:t>
            </a:r>
          </a:p>
          <a:p xmlns:a="http://schemas.openxmlformats.org/drawingml/2006/main">
            <a:pPr algn="l">
              <a:defRPr sz="5400" b="1">
                <a:solidFill>
                  <a:srgbClr val="F1F5F2"/>
                </a:solidFill>
                <a:latin typeface="Roboto"/>
                <a:ea typeface="Roboto"/>
                <a:cs typeface="Roboto"/>
              </a:defRPr>
            </a:pPr>
            <a:r>
              <a:rPr sz="5400" b="1">
                <a:solidFill>
                  <a:srgbClr val="F1F5F2"/>
                </a:solidFill>
                <a:latin typeface="Roboto"/>
                <a:ea typeface="Roboto"/>
                <a:cs typeface="Roboto"/>
              </a:rPr>
              <a:t>Online</a:t>
            </a:r>
          </a:p>
        </p:txBody>
      </p:sp>
      <p:sp>
        <p:nvSpPr>
          <p:cNvPr id="4" name="">
            <a:extLst xmlns:a="http://schemas.openxmlformats.org/drawingml/2006/main">
              <a:ext uri="{FF2B5EF4-FFF2-40B4-BE49-F238E27FC236}">
                <a16:creationId xmlns:a16="http://schemas.microsoft.com/office/drawing/2014/main" id="{0DF585FF-4DC1-44D0-A752-721549ED604A}"/>
              </a:ext>
            </a:extLst>
          </p:cNvPr>
          <p:cNvSpPr>
            <a:spLocks xmlns:a="http://schemas.openxmlformats.org/drawingml/2006/main" noGrp="1"/>
          </p:cNvSpPr>
          <p:nvPr/>
        </p:nvSpPr>
        <p:spPr>
          <a:xfrm xmlns:a="http://schemas.openxmlformats.org/drawingml/2006/main">
            <a:off x="666750" y="3638550"/>
            <a:ext cx="628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45DDF4"/>
                </a:solidFill>
                <a:latin typeface="Menlo"/>
                <a:ea typeface="Menlo"/>
                <a:cs typeface="Menlo"/>
              </a:defRPr>
            </a:pPr>
            <a:r>
              <a:rPr sz="1350" b="1">
                <a:solidFill>
                  <a:srgbClr val="45DDF4"/>
                </a:solidFill>
                <a:latin typeface="Menlo"/>
                <a:ea typeface="Menlo"/>
                <a:cs typeface="Menlo"/>
              </a:rPr>
              <a:t>PROJECT VISION + RELEASE 1</a:t>
            </a:r>
          </a:p>
        </p:txBody>
      </p:sp>
      <p:sp>
        <p:nvSpPr>
          <p:cNvPr id="5" name="">
            <a:extLst xmlns:a="http://schemas.openxmlformats.org/drawingml/2006/main">
              <a:ext uri="{FF2B5EF4-FFF2-40B4-BE49-F238E27FC236}">
                <a16:creationId xmlns:a16="http://schemas.microsoft.com/office/drawing/2014/main" id="{F2001C80-AB5C-44D2-8FD5-288B5AE260F9}"/>
              </a:ext>
            </a:extLst>
          </p:cNvPr>
          <p:cNvSpPr>
            <a:spLocks xmlns:a="http://schemas.openxmlformats.org/drawingml/2006/main" noGrp="1"/>
          </p:cNvSpPr>
          <p:nvPr/>
        </p:nvSpPr>
        <p:spPr>
          <a:xfrm xmlns:a="http://schemas.openxmlformats.org/drawingml/2006/main">
            <a:off x="666750" y="4267200"/>
            <a:ext cx="7429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94A19E"/>
                </a:solidFill>
                <a:latin typeface="Roboto"/>
                <a:ea typeface="Roboto"/>
                <a:cs typeface="Roboto"/>
              </a:defRPr>
            </a:pPr>
            <a:r>
              <a:rPr sz="1950" b="0">
                <a:solidFill>
                  <a:srgbClr val="94A19E"/>
                </a:solidFill>
                <a:latin typeface="Roboto"/>
                <a:ea typeface="Roboto"/>
                <a:cs typeface="Roboto"/>
              </a:rPr>
              <a:t>A digital board game that keeps the chaos and removes the bookkeeping</a:t>
            </a:r>
          </a:p>
        </p:txBody>
      </p:sp>
      <p:sp>
        <p:nvSpPr>
          <p:cNvPr id="6" name="">
            <a:extLst xmlns:a="http://schemas.openxmlformats.org/drawingml/2006/main">
              <a:ext uri="{FF2B5EF4-FFF2-40B4-BE49-F238E27FC236}">
                <a16:creationId xmlns:a16="http://schemas.microsoft.com/office/drawing/2014/main" id="{F2AE1F12-3E72-4567-AF2C-45A7B518F271}"/>
              </a:ext>
            </a:extLst>
          </p:cNvPr>
          <p:cNvSpPr>
            <a:spLocks xmlns:a="http://schemas.openxmlformats.org/drawingml/2006/main" noGrp="1"/>
          </p:cNvSpPr>
          <p:nvPr/>
        </p:nvSpPr>
        <p:spPr>
          <a:xfrm xmlns:a="http://schemas.openxmlformats.org/drawingml/2006/main">
            <a:off x="8724900" y="167640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650" b="1">
                <a:solidFill>
                  <a:srgbClr val="B6FF3B"/>
                </a:solidFill>
                <a:latin typeface="Menlo"/>
                <a:ea typeface="Menlo"/>
                <a:cs typeface="Menlo"/>
              </a:defRPr>
            </a:pPr>
            <a:r>
              <a:rPr sz="1650" b="1">
                <a:solidFill>
                  <a:srgbClr val="B6FF3B"/>
                </a:solidFill>
                <a:latin typeface="Menlo"/>
                <a:ea typeface="Menlo"/>
                <a:cs typeface="Menlo"/>
              </a:rPr>
              <a:t>&gt; PROGRAM</a:t>
            </a:r>
          </a:p>
        </p:txBody>
      </p:sp>
      <p:sp>
        <p:nvSpPr>
          <p:cNvPr id="7" name="">
            <a:extLst xmlns:a="http://schemas.openxmlformats.org/drawingml/2006/main">
              <a:ext uri="{FF2B5EF4-FFF2-40B4-BE49-F238E27FC236}">
                <a16:creationId xmlns:a16="http://schemas.microsoft.com/office/drawing/2014/main" id="{259D9F0B-AED0-4E21-9DE3-A905370AE9C9}"/>
              </a:ext>
            </a:extLst>
          </p:cNvPr>
          <p:cNvSpPr>
            <a:spLocks xmlns:a="http://schemas.openxmlformats.org/drawingml/2006/main" noGrp="1"/>
          </p:cNvSpPr>
          <p:nvPr/>
        </p:nvSpPr>
        <p:spPr>
          <a:xfrm xmlns:a="http://schemas.openxmlformats.org/drawingml/2006/main">
            <a:off x="8724900" y="232410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650" b="1">
                <a:solidFill>
                  <a:srgbClr val="45DDF4"/>
                </a:solidFill>
                <a:latin typeface="Menlo"/>
                <a:ea typeface="Menlo"/>
                <a:cs typeface="Menlo"/>
              </a:defRPr>
            </a:pPr>
            <a:r>
              <a:rPr sz="1650" b="1">
                <a:solidFill>
                  <a:srgbClr val="45DDF4"/>
                </a:solidFill>
                <a:latin typeface="Menlo"/>
                <a:ea typeface="Menlo"/>
                <a:cs typeface="Menlo"/>
              </a:rPr>
              <a:t>&gt; EXECUTE</a:t>
            </a:r>
          </a:p>
        </p:txBody>
      </p:sp>
      <p:sp>
        <p:nvSpPr>
          <p:cNvPr id="8" name="">
            <a:extLst xmlns:a="http://schemas.openxmlformats.org/drawingml/2006/main">
              <a:ext uri="{FF2B5EF4-FFF2-40B4-BE49-F238E27FC236}">
                <a16:creationId xmlns:a16="http://schemas.microsoft.com/office/drawing/2014/main" id="{C2E9C1A7-7CA0-4CE4-A80E-7FFCBBF15DBE}"/>
              </a:ext>
            </a:extLst>
          </p:cNvPr>
          <p:cNvSpPr>
            <a:spLocks xmlns:a="http://schemas.openxmlformats.org/drawingml/2006/main" noGrp="1"/>
          </p:cNvSpPr>
          <p:nvPr/>
        </p:nvSpPr>
        <p:spPr>
          <a:xfrm xmlns:a="http://schemas.openxmlformats.org/drawingml/2006/main">
            <a:off x="8724900" y="297180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650" b="1">
                <a:solidFill>
                  <a:srgbClr val="FFC857"/>
                </a:solidFill>
                <a:latin typeface="Menlo"/>
                <a:ea typeface="Menlo"/>
                <a:cs typeface="Menlo"/>
              </a:defRPr>
            </a:pPr>
            <a:r>
              <a:rPr sz="1650" b="1">
                <a:solidFill>
                  <a:srgbClr val="FFC857"/>
                </a:solidFill>
                <a:latin typeface="Menlo"/>
                <a:ea typeface="Menlo"/>
                <a:cs typeface="Menlo"/>
              </a:rPr>
              <a:t>&gt; RESOLVE</a:t>
            </a:r>
          </a:p>
        </p:txBody>
      </p:sp>
      <p:sp>
        <p:nvSpPr>
          <p:cNvPr id="9" name="">
            <a:extLst xmlns:a="http://schemas.openxmlformats.org/drawingml/2006/main">
              <a:ext uri="{FF2B5EF4-FFF2-40B4-BE49-F238E27FC236}">
                <a16:creationId xmlns:a16="http://schemas.microsoft.com/office/drawing/2014/main" id="{4B6B33F7-CDF2-4D70-9509-0BE6FBC2C9B9}"/>
              </a:ext>
            </a:extLst>
          </p:cNvPr>
          <p:cNvSpPr>
            <a:spLocks xmlns:a="http://schemas.openxmlformats.org/drawingml/2006/main" noGrp="1"/>
          </p:cNvSpPr>
          <p:nvPr/>
        </p:nvSpPr>
        <p:spPr>
          <a:xfrm xmlns:a="http://schemas.openxmlformats.org/drawingml/2006/main">
            <a:off x="8724900" y="3543300"/>
            <a:ext cx="2667000" cy="95"/>
          </a:xfrm>
          <a:prstGeom xmlns:a="http://schemas.openxmlformats.org/drawingml/2006/main" prst="line">
            <a:avLst/>
          </a:prstGeom>
          <a:noFill xmlns:a="http://schemas.openxmlformats.org/drawingml/2006/main"/>
          <a:ln xmlns:a="http://schemas.openxmlformats.org/drawingml/2006/main" w="19050">
            <a:solidFill>
              <a:srgbClr val="2A3637"/>
            </a:solidFill>
          </a:ln>
        </p:spPr>
      </p:sp>
      <p:sp>
        <p:nvSpPr>
          <p:cNvPr id="10" name="">
            <a:extLst xmlns:a="http://schemas.openxmlformats.org/drawingml/2006/main">
              <a:ext uri="{FF2B5EF4-FFF2-40B4-BE49-F238E27FC236}">
                <a16:creationId xmlns:a16="http://schemas.microsoft.com/office/drawing/2014/main" id="{045EB3E1-63D0-4DED-B341-1881D517968F}"/>
              </a:ext>
            </a:extLst>
          </p:cNvPr>
          <p:cNvSpPr>
            <a:spLocks xmlns:a="http://schemas.openxmlformats.org/drawingml/2006/main" noGrp="1"/>
          </p:cNvSpPr>
          <p:nvPr/>
        </p:nvSpPr>
        <p:spPr>
          <a:xfrm xmlns:a="http://schemas.openxmlformats.org/drawingml/2006/main">
            <a:off x="8724900" y="373380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125" b="1">
                <a:solidFill>
                  <a:srgbClr val="94A19E"/>
                </a:solidFill>
                <a:latin typeface="Menlo"/>
                <a:ea typeface="Menlo"/>
                <a:cs typeface="Menlo"/>
              </a:defRPr>
            </a:pPr>
            <a:r>
              <a:rPr sz="1125" b="1">
                <a:solidFill>
                  <a:srgbClr val="94A19E"/>
                </a:solidFill>
                <a:latin typeface="Menlo"/>
                <a:ea typeface="Menlo"/>
                <a:cs typeface="Menlo"/>
              </a:rPr>
              <a:t>10 MINUTES</a:t>
            </a:r>
          </a:p>
        </p:txBody>
      </p:sp>
    </p:spTree>
    <p:extLst>
      <p:ext uri="{BB962C8B-B14F-4D97-AF65-F5344CB8AC3E}">
        <p14:creationId xmlns:p14="http://schemas.microsoft.com/office/powerpoint/2010/main" val="1894211215"/>
      </p:ext>
    </p:extLst>
  </p:cSld>
</p:sld>
</file>

<file path=ppt/slides/slide2.xml><?xml version="1.0" encoding="utf-8"?>
<p:sld xmlns:p="http://schemas.openxmlformats.org/presentationml/2006/main">
  <p:cSld>
    <p:bg>
      <p:bgPr>
        <a:solidFill xmlns:a="http://schemas.openxmlformats.org/drawingml/2006/main">
          <a:srgbClr val="090E0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06F76B5-8BAF-4E6F-A9D2-A6D9A3014FAD}"/>
              </a:ext>
            </a:extLst>
          </p:cNvPr>
          <p:cNvSpPr>
            <a:spLocks xmlns:a="http://schemas.openxmlformats.org/drawingml/2006/main" noGrp="1"/>
          </p:cNvSpPr>
          <p:nvPr/>
        </p:nvSpPr>
        <p:spPr>
          <a:xfrm xmlns:a="http://schemas.openxmlformats.org/drawingml/2006/main">
            <a:off x="533400" y="2667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B6FF3B"/>
                </a:solidFill>
                <a:latin typeface="Menlo"/>
                <a:ea typeface="Menlo"/>
                <a:cs typeface="Menlo"/>
              </a:defRPr>
            </a:pPr>
            <a:r>
              <a:rPr sz="975" b="1">
                <a:solidFill>
                  <a:srgbClr val="B6FF3B"/>
                </a:solidFill>
                <a:latin typeface="Menlo"/>
                <a:ea typeface="Menlo"/>
                <a:cs typeface="Menlo"/>
              </a:rPr>
              <a:t>SYS::RR-02162</a:t>
            </a:r>
          </a:p>
        </p:txBody>
      </p:sp>
      <p:sp>
        <p:nvSpPr>
          <p:cNvPr id="2" name="">
            <a:extLst xmlns:a="http://schemas.openxmlformats.org/drawingml/2006/main">
              <a:ext uri="{FF2B5EF4-FFF2-40B4-BE49-F238E27FC236}">
                <a16:creationId xmlns:a16="http://schemas.microsoft.com/office/drawing/2014/main" id="{AB02A645-23A8-4F5F-BAA7-F3011B706B02}"/>
              </a:ext>
            </a:extLst>
          </p:cNvPr>
          <p:cNvSpPr>
            <a:spLocks xmlns:a="http://schemas.openxmlformats.org/drawingml/2006/main" noGrp="1"/>
          </p:cNvSpPr>
          <p:nvPr/>
        </p:nvSpPr>
        <p:spPr>
          <a:xfrm xmlns:a="http://schemas.openxmlformats.org/drawingml/2006/main">
            <a:off x="11125200" y="2667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94A19E"/>
                </a:solidFill>
                <a:latin typeface="Menlo"/>
                <a:ea typeface="Menlo"/>
                <a:cs typeface="Menlo"/>
              </a:defRPr>
            </a:pPr>
            <a:r>
              <a:rPr sz="975" b="1">
                <a:solidFill>
                  <a:srgbClr val="94A19E"/>
                </a:solidFill>
                <a:latin typeface="Menlo"/>
                <a:ea typeface="Menlo"/>
                <a:cs typeface="Menlo"/>
              </a:rPr>
              <a:t>02</a:t>
            </a:r>
          </a:p>
        </p:txBody>
      </p:sp>
      <p:sp>
        <p:nvSpPr>
          <p:cNvPr id="3" name="">
            <a:extLst xmlns:a="http://schemas.openxmlformats.org/drawingml/2006/main">
              <a:ext uri="{FF2B5EF4-FFF2-40B4-BE49-F238E27FC236}">
                <a16:creationId xmlns:a16="http://schemas.microsoft.com/office/drawing/2014/main" id="{9D7FCD05-71D4-46DC-BF8C-BAEC54F76488}"/>
              </a:ext>
            </a:extLst>
          </p:cNvPr>
          <p:cNvSpPr>
            <a:spLocks xmlns:a="http://schemas.openxmlformats.org/drawingml/2006/main" noGrp="1"/>
          </p:cNvSpPr>
          <p:nvPr/>
        </p:nvSpPr>
        <p:spPr>
          <a:xfrm xmlns:a="http://schemas.openxmlformats.org/drawingml/2006/main">
            <a:off x="533400" y="581025"/>
            <a:ext cx="111252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4" name="">
            <a:extLst xmlns:a="http://schemas.openxmlformats.org/drawingml/2006/main">
              <a:ext uri="{FF2B5EF4-FFF2-40B4-BE49-F238E27FC236}">
                <a16:creationId xmlns:a16="http://schemas.microsoft.com/office/drawing/2014/main" id="{1273DC46-A147-45B4-B8EB-E366F78F494D}"/>
              </a:ext>
            </a:extLst>
          </p:cNvPr>
          <p:cNvSpPr>
            <a:spLocks xmlns:a="http://schemas.openxmlformats.org/drawingml/2006/main" noGrp="1"/>
          </p:cNvSpPr>
          <p:nvPr/>
        </p:nvSpPr>
        <p:spPr>
          <a:xfrm xmlns:a="http://schemas.openxmlformats.org/drawingml/2006/main">
            <a:off x="533400" y="74295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F1F5F2"/>
                </a:solidFill>
                <a:latin typeface="Roboto"/>
                <a:ea typeface="Roboto"/>
                <a:cs typeface="Roboto"/>
              </a:defRPr>
            </a:pPr>
            <a:r>
              <a:rPr sz="2700" b="1">
                <a:solidFill>
                  <a:srgbClr val="F1F5F2"/>
                </a:solidFill>
                <a:latin typeface="Roboto"/>
                <a:ea typeface="Roboto"/>
                <a:cs typeface="Roboto"/>
              </a:rPr>
              <a:t>Why a digital RoboRally?</a:t>
            </a:r>
          </a:p>
        </p:txBody>
      </p:sp>
      <p:sp>
        <p:nvSpPr>
          <p:cNvPr id="5" name="">
            <a:extLst xmlns:a="http://schemas.openxmlformats.org/drawingml/2006/main">
              <a:ext uri="{FF2B5EF4-FFF2-40B4-BE49-F238E27FC236}">
                <a16:creationId xmlns:a16="http://schemas.microsoft.com/office/drawing/2014/main" id="{CB5E64CF-6EB1-41DA-AFAF-7B52FFCB140F}"/>
              </a:ext>
            </a:extLst>
          </p:cNvPr>
          <p:cNvSpPr>
            <a:spLocks xmlns:a="http://schemas.openxmlformats.org/drawingml/2006/main" noGrp="1"/>
          </p:cNvSpPr>
          <p:nvPr/>
        </p:nvSpPr>
        <p:spPr>
          <a:xfrm xmlns:a="http://schemas.openxmlformats.org/drawingml/2006/main">
            <a:off x="533400" y="1466850"/>
            <a:ext cx="7239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F1F5F2"/>
                </a:solidFill>
                <a:latin typeface="Roboto"/>
                <a:ea typeface="Roboto"/>
                <a:cs typeface="Roboto"/>
              </a:defRPr>
            </a:pPr>
            <a:r>
              <a:rPr sz="3000" b="1">
                <a:solidFill>
                  <a:srgbClr val="F1F5F2"/>
                </a:solidFill>
                <a:latin typeface="Roboto"/>
                <a:ea typeface="Roboto"/>
                <a:cs typeface="Roboto"/>
              </a:rPr>
              <a:t>The physical game is difficult to start spontaneously.</a:t>
            </a:r>
          </a:p>
        </p:txBody>
      </p:sp>
      <p:sp>
        <p:nvSpPr>
          <p:cNvPr id="6" name="">
            <a:extLst xmlns:a="http://schemas.openxmlformats.org/drawingml/2006/main">
              <a:ext uri="{FF2B5EF4-FFF2-40B4-BE49-F238E27FC236}">
                <a16:creationId xmlns:a16="http://schemas.microsoft.com/office/drawing/2014/main" id="{C7DB9859-C854-4394-BD4E-2D5693247727}"/>
              </a:ext>
            </a:extLst>
          </p:cNvPr>
          <p:cNvSpPr>
            <a:spLocks xmlns:a="http://schemas.openxmlformats.org/drawingml/2006/main" noGrp="1"/>
          </p:cNvSpPr>
          <p:nvPr/>
        </p:nvSpPr>
        <p:spPr>
          <a:xfrm xmlns:a="http://schemas.openxmlformats.org/drawingml/2006/main">
            <a:off x="533400" y="2800350"/>
            <a:ext cx="111252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7" name="">
            <a:extLst xmlns:a="http://schemas.openxmlformats.org/drawingml/2006/main">
              <a:ext uri="{FF2B5EF4-FFF2-40B4-BE49-F238E27FC236}">
                <a16:creationId xmlns:a16="http://schemas.microsoft.com/office/drawing/2014/main" id="{CCD1732D-D726-4838-8D65-757DCF886E97}"/>
              </a:ext>
            </a:extLst>
          </p:cNvPr>
          <p:cNvSpPr>
            <a:spLocks xmlns:a="http://schemas.openxmlformats.org/drawingml/2006/main" noGrp="1"/>
          </p:cNvSpPr>
          <p:nvPr/>
        </p:nvSpPr>
        <p:spPr>
          <a:xfrm xmlns:a="http://schemas.openxmlformats.org/drawingml/2006/main">
            <a:off x="533400" y="314325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FF5C66"/>
                </a:solidFill>
                <a:latin typeface="Menlo"/>
                <a:ea typeface="Menlo"/>
                <a:cs typeface="Menlo"/>
              </a:defRPr>
            </a:pPr>
            <a:r>
              <a:rPr sz="1350" b="1">
                <a:solidFill>
                  <a:srgbClr val="FF5C66"/>
                </a:solidFill>
                <a:latin typeface="Menlo"/>
                <a:ea typeface="Menlo"/>
                <a:cs typeface="Menlo"/>
              </a:rPr>
              <a:t>01</a:t>
            </a:r>
          </a:p>
        </p:txBody>
      </p:sp>
      <p:sp>
        <p:nvSpPr>
          <p:cNvPr id="8" name="">
            <a:extLst xmlns:a="http://schemas.openxmlformats.org/drawingml/2006/main">
              <a:ext uri="{FF2B5EF4-FFF2-40B4-BE49-F238E27FC236}">
                <a16:creationId xmlns:a16="http://schemas.microsoft.com/office/drawing/2014/main" id="{58CA1371-95DC-4985-8647-D30FCDFADB6B}"/>
              </a:ext>
            </a:extLst>
          </p:cNvPr>
          <p:cNvSpPr>
            <a:spLocks xmlns:a="http://schemas.openxmlformats.org/drawingml/2006/main" noGrp="1"/>
          </p:cNvSpPr>
          <p:nvPr/>
        </p:nvSpPr>
        <p:spPr>
          <a:xfrm xmlns:a="http://schemas.openxmlformats.org/drawingml/2006/main">
            <a:off x="1085850" y="3114675"/>
            <a:ext cx="2781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F1F5F2"/>
                </a:solidFill>
                <a:latin typeface="Roboto"/>
                <a:ea typeface="Roboto"/>
                <a:cs typeface="Roboto"/>
              </a:defRPr>
            </a:pPr>
            <a:r>
              <a:rPr sz="1800" b="1">
                <a:solidFill>
                  <a:srgbClr val="F1F5F2"/>
                </a:solidFill>
                <a:latin typeface="Roboto"/>
                <a:ea typeface="Roboto"/>
                <a:cs typeface="Roboto"/>
              </a:rPr>
              <a:t>Same room</a:t>
            </a:r>
          </a:p>
        </p:txBody>
      </p:sp>
      <p:sp>
        <p:nvSpPr>
          <p:cNvPr id="9" name="">
            <a:extLst xmlns:a="http://schemas.openxmlformats.org/drawingml/2006/main">
              <a:ext uri="{FF2B5EF4-FFF2-40B4-BE49-F238E27FC236}">
                <a16:creationId xmlns:a16="http://schemas.microsoft.com/office/drawing/2014/main" id="{24D51FE8-732C-492C-98FD-62C3F633789F}"/>
              </a:ext>
            </a:extLst>
          </p:cNvPr>
          <p:cNvSpPr>
            <a:spLocks xmlns:a="http://schemas.openxmlformats.org/drawingml/2006/main" noGrp="1"/>
          </p:cNvSpPr>
          <p:nvPr/>
        </p:nvSpPr>
        <p:spPr>
          <a:xfrm xmlns:a="http://schemas.openxmlformats.org/drawingml/2006/main">
            <a:off x="1085850" y="3514725"/>
            <a:ext cx="2781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94A19E"/>
                </a:solidFill>
                <a:latin typeface="Roboto"/>
                <a:ea typeface="Roboto"/>
                <a:cs typeface="Roboto"/>
              </a:defRPr>
            </a:pPr>
            <a:r>
              <a:rPr sz="1350" b="0">
                <a:solidFill>
                  <a:srgbClr val="94A19E"/>
                </a:solidFill>
                <a:latin typeface="Roboto"/>
                <a:ea typeface="Roboto"/>
                <a:cs typeface="Roboto"/>
              </a:rPr>
              <a:t>Every player needs to meet around one table.</a:t>
            </a:r>
          </a:p>
        </p:txBody>
      </p:sp>
      <p:sp>
        <p:nvSpPr>
          <p:cNvPr id="10" name="">
            <a:extLst xmlns:a="http://schemas.openxmlformats.org/drawingml/2006/main">
              <a:ext uri="{FF2B5EF4-FFF2-40B4-BE49-F238E27FC236}">
                <a16:creationId xmlns:a16="http://schemas.microsoft.com/office/drawing/2014/main" id="{31CF3A56-04E6-415E-8510-1E307BD38AE0}"/>
              </a:ext>
            </a:extLst>
          </p:cNvPr>
          <p:cNvSpPr>
            <a:spLocks xmlns:a="http://schemas.openxmlformats.org/drawingml/2006/main" noGrp="1"/>
          </p:cNvSpPr>
          <p:nvPr/>
        </p:nvSpPr>
        <p:spPr>
          <a:xfrm xmlns:a="http://schemas.openxmlformats.org/drawingml/2006/main">
            <a:off x="4171950" y="314325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FFC857"/>
                </a:solidFill>
                <a:latin typeface="Menlo"/>
                <a:ea typeface="Menlo"/>
                <a:cs typeface="Menlo"/>
              </a:defRPr>
            </a:pPr>
            <a:r>
              <a:rPr sz="1350" b="1">
                <a:solidFill>
                  <a:srgbClr val="FFC857"/>
                </a:solidFill>
                <a:latin typeface="Menlo"/>
                <a:ea typeface="Menlo"/>
                <a:cs typeface="Menlo"/>
              </a:rPr>
              <a:t>02</a:t>
            </a:r>
          </a:p>
        </p:txBody>
      </p:sp>
      <p:sp>
        <p:nvSpPr>
          <p:cNvPr id="11" name="">
            <a:extLst xmlns:a="http://schemas.openxmlformats.org/drawingml/2006/main">
              <a:ext uri="{FF2B5EF4-FFF2-40B4-BE49-F238E27FC236}">
                <a16:creationId xmlns:a16="http://schemas.microsoft.com/office/drawing/2014/main" id="{BE20A1B9-FB4E-40DF-AECC-FA5988606658}"/>
              </a:ext>
            </a:extLst>
          </p:cNvPr>
          <p:cNvSpPr>
            <a:spLocks xmlns:a="http://schemas.openxmlformats.org/drawingml/2006/main" noGrp="1"/>
          </p:cNvSpPr>
          <p:nvPr/>
        </p:nvSpPr>
        <p:spPr>
          <a:xfrm xmlns:a="http://schemas.openxmlformats.org/drawingml/2006/main">
            <a:off x="4724400" y="3114675"/>
            <a:ext cx="2781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F1F5F2"/>
                </a:solidFill>
                <a:latin typeface="Roboto"/>
                <a:ea typeface="Roboto"/>
                <a:cs typeface="Roboto"/>
              </a:defRPr>
            </a:pPr>
            <a:r>
              <a:rPr sz="1800" b="1">
                <a:solidFill>
                  <a:srgbClr val="F1F5F2"/>
                </a:solidFill>
                <a:latin typeface="Roboto"/>
                <a:ea typeface="Roboto"/>
                <a:cs typeface="Roboto"/>
              </a:rPr>
              <a:t>Manual bookkeeping</a:t>
            </a:r>
          </a:p>
        </p:txBody>
      </p:sp>
      <p:sp>
        <p:nvSpPr>
          <p:cNvPr id="12" name="">
            <a:extLst xmlns:a="http://schemas.openxmlformats.org/drawingml/2006/main">
              <a:ext uri="{FF2B5EF4-FFF2-40B4-BE49-F238E27FC236}">
                <a16:creationId xmlns:a16="http://schemas.microsoft.com/office/drawing/2014/main" id="{91C99418-6CD5-47DD-B52A-32EFF09AE6AA}"/>
              </a:ext>
            </a:extLst>
          </p:cNvPr>
          <p:cNvSpPr>
            <a:spLocks xmlns:a="http://schemas.openxmlformats.org/drawingml/2006/main" noGrp="1"/>
          </p:cNvSpPr>
          <p:nvPr/>
        </p:nvSpPr>
        <p:spPr>
          <a:xfrm xmlns:a="http://schemas.openxmlformats.org/drawingml/2006/main">
            <a:off x="4724400" y="3514725"/>
            <a:ext cx="2781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94A19E"/>
                </a:solidFill>
                <a:latin typeface="Roboto"/>
                <a:ea typeface="Roboto"/>
                <a:cs typeface="Roboto"/>
              </a:defRPr>
            </a:pPr>
            <a:r>
              <a:rPr sz="1350" b="0">
                <a:solidFill>
                  <a:srgbClr val="94A19E"/>
                </a:solidFill>
                <a:latin typeface="Roboto"/>
                <a:ea typeface="Roboto"/>
                <a:cs typeface="Roboto"/>
              </a:rPr>
              <a:t>Cards, checkpoints, damage and turn order need constant tracking.</a:t>
            </a:r>
          </a:p>
        </p:txBody>
      </p:sp>
      <p:sp>
        <p:nvSpPr>
          <p:cNvPr id="13" name="">
            <a:extLst xmlns:a="http://schemas.openxmlformats.org/drawingml/2006/main">
              <a:ext uri="{FF2B5EF4-FFF2-40B4-BE49-F238E27FC236}">
                <a16:creationId xmlns:a16="http://schemas.microsoft.com/office/drawing/2014/main" id="{0DA3B9F3-60EE-41DC-8AAE-7A97333EBC12}"/>
              </a:ext>
            </a:extLst>
          </p:cNvPr>
          <p:cNvSpPr>
            <a:spLocks xmlns:a="http://schemas.openxmlformats.org/drawingml/2006/main" noGrp="1"/>
          </p:cNvSpPr>
          <p:nvPr/>
        </p:nvSpPr>
        <p:spPr>
          <a:xfrm xmlns:a="http://schemas.openxmlformats.org/drawingml/2006/main">
            <a:off x="7810500" y="314325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45DDF4"/>
                </a:solidFill>
                <a:latin typeface="Menlo"/>
                <a:ea typeface="Menlo"/>
                <a:cs typeface="Menlo"/>
              </a:defRPr>
            </a:pPr>
            <a:r>
              <a:rPr sz="1350" b="1">
                <a:solidFill>
                  <a:srgbClr val="45DDF4"/>
                </a:solidFill>
                <a:latin typeface="Menlo"/>
                <a:ea typeface="Menlo"/>
                <a:cs typeface="Menlo"/>
              </a:rPr>
              <a:t>03</a:t>
            </a:r>
          </a:p>
        </p:txBody>
      </p:sp>
      <p:sp>
        <p:nvSpPr>
          <p:cNvPr id="14" name="">
            <a:extLst xmlns:a="http://schemas.openxmlformats.org/drawingml/2006/main">
              <a:ext uri="{FF2B5EF4-FFF2-40B4-BE49-F238E27FC236}">
                <a16:creationId xmlns:a16="http://schemas.microsoft.com/office/drawing/2014/main" id="{88EAB745-70D7-4F9F-9783-BA3650B01D1B}"/>
              </a:ext>
            </a:extLst>
          </p:cNvPr>
          <p:cNvSpPr>
            <a:spLocks xmlns:a="http://schemas.openxmlformats.org/drawingml/2006/main" noGrp="1"/>
          </p:cNvSpPr>
          <p:nvPr/>
        </p:nvSpPr>
        <p:spPr>
          <a:xfrm xmlns:a="http://schemas.openxmlformats.org/drawingml/2006/main">
            <a:off x="8362950" y="3114675"/>
            <a:ext cx="2876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F1F5F2"/>
                </a:solidFill>
                <a:latin typeface="Roboto"/>
                <a:ea typeface="Roboto"/>
                <a:cs typeface="Roboto"/>
              </a:defRPr>
            </a:pPr>
            <a:r>
              <a:rPr sz="1800" b="1">
                <a:solidFill>
                  <a:srgbClr val="F1F5F2"/>
                </a:solidFill>
                <a:latin typeface="Roboto"/>
                <a:ea typeface="Roboto"/>
                <a:cs typeface="Roboto"/>
              </a:rPr>
              <a:t>Rule ambiguity</a:t>
            </a:r>
          </a:p>
        </p:txBody>
      </p:sp>
      <p:sp>
        <p:nvSpPr>
          <p:cNvPr id="15" name="">
            <a:extLst xmlns:a="http://schemas.openxmlformats.org/drawingml/2006/main">
              <a:ext uri="{FF2B5EF4-FFF2-40B4-BE49-F238E27FC236}">
                <a16:creationId xmlns:a16="http://schemas.microsoft.com/office/drawing/2014/main" id="{FFA638D6-AF09-48AE-A247-4C6FD46F4A1B}"/>
              </a:ext>
            </a:extLst>
          </p:cNvPr>
          <p:cNvSpPr>
            <a:spLocks xmlns:a="http://schemas.openxmlformats.org/drawingml/2006/main" noGrp="1"/>
          </p:cNvSpPr>
          <p:nvPr/>
        </p:nvSpPr>
        <p:spPr>
          <a:xfrm xmlns:a="http://schemas.openxmlformats.org/drawingml/2006/main">
            <a:off x="8362950" y="3514725"/>
            <a:ext cx="2876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94A19E"/>
                </a:solidFill>
                <a:latin typeface="Roboto"/>
                <a:ea typeface="Roboto"/>
                <a:cs typeface="Roboto"/>
              </a:defRPr>
            </a:pPr>
            <a:r>
              <a:rPr sz="1350" b="0">
                <a:solidFill>
                  <a:srgbClr val="94A19E"/>
                </a:solidFill>
                <a:latin typeface="Roboto"/>
                <a:ea typeface="Roboto"/>
                <a:cs typeface="Roboto"/>
              </a:rPr>
              <a:t>One resolution mistake can interrupt the whole round.</a:t>
            </a:r>
          </a:p>
        </p:txBody>
      </p:sp>
      <p:sp>
        <p:nvSpPr>
          <p:cNvPr id="16" name="">
            <a:extLst xmlns:a="http://schemas.openxmlformats.org/drawingml/2006/main">
              <a:ext uri="{FF2B5EF4-FFF2-40B4-BE49-F238E27FC236}">
                <a16:creationId xmlns:a16="http://schemas.microsoft.com/office/drawing/2014/main" id="{B799E9B3-BE95-4098-A217-67D0E4FF5E55}"/>
              </a:ext>
            </a:extLst>
          </p:cNvPr>
          <p:cNvSpPr>
            <a:spLocks xmlns:a="http://schemas.openxmlformats.org/drawingml/2006/main" noGrp="1"/>
          </p:cNvSpPr>
          <p:nvPr/>
        </p:nvSpPr>
        <p:spPr>
          <a:xfrm xmlns:a="http://schemas.openxmlformats.org/drawingml/2006/main">
            <a:off x="533400" y="5619750"/>
            <a:ext cx="11125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B6FF3B"/>
                </a:solidFill>
                <a:latin typeface="Menlo"/>
                <a:ea typeface="Menlo"/>
                <a:cs typeface="Menlo"/>
              </a:defRPr>
            </a:pPr>
            <a:r>
              <a:rPr sz="2025" b="1">
                <a:solidFill>
                  <a:srgbClr val="B6FF3B"/>
                </a:solidFill>
                <a:latin typeface="Menlo"/>
                <a:ea typeface="Menlo"/>
                <a:cs typeface="Menlo"/>
              </a:rPr>
              <a:t>The friction comes before the fun starts.</a:t>
            </a:r>
          </a:p>
        </p:txBody>
      </p:sp>
    </p:spTree>
    <p:extLst>
      <p:ext uri="{BB962C8B-B14F-4D97-AF65-F5344CB8AC3E}">
        <p14:creationId xmlns:p14="http://schemas.microsoft.com/office/powerpoint/2010/main" val="1239449710"/>
      </p:ext>
    </p:extLst>
  </p:cSld>
</p:sld>
</file>

<file path=ppt/slides/slide3.xml><?xml version="1.0" encoding="utf-8"?>
<p:sld xmlns:p="http://schemas.openxmlformats.org/presentationml/2006/main">
  <p:cSld>
    <p:bg>
      <p:bgPr>
        <a:solidFill xmlns:a="http://schemas.openxmlformats.org/drawingml/2006/main">
          <a:srgbClr val="090E0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6C6F78B-B9BC-4380-B6F4-AC269E03127D}"/>
              </a:ext>
            </a:extLst>
          </p:cNvPr>
          <p:cNvSpPr>
            <a:spLocks xmlns:a="http://schemas.openxmlformats.org/drawingml/2006/main" noGrp="1"/>
          </p:cNvSpPr>
          <p:nvPr/>
        </p:nvSpPr>
        <p:spPr>
          <a:xfrm xmlns:a="http://schemas.openxmlformats.org/drawingml/2006/main">
            <a:off x="533400" y="2667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B6FF3B"/>
                </a:solidFill>
                <a:latin typeface="Menlo"/>
                <a:ea typeface="Menlo"/>
                <a:cs typeface="Menlo"/>
              </a:defRPr>
            </a:pPr>
            <a:r>
              <a:rPr sz="975" b="1">
                <a:solidFill>
                  <a:srgbClr val="B6FF3B"/>
                </a:solidFill>
                <a:latin typeface="Menlo"/>
                <a:ea typeface="Menlo"/>
                <a:cs typeface="Menlo"/>
              </a:rPr>
              <a:t>SYS::RR-02162</a:t>
            </a:r>
          </a:p>
        </p:txBody>
      </p:sp>
      <p:sp>
        <p:nvSpPr>
          <p:cNvPr id="2" name="">
            <a:extLst xmlns:a="http://schemas.openxmlformats.org/drawingml/2006/main">
              <a:ext uri="{FF2B5EF4-FFF2-40B4-BE49-F238E27FC236}">
                <a16:creationId xmlns:a16="http://schemas.microsoft.com/office/drawing/2014/main" id="{A5829328-82B0-4456-9B79-DC8E095BA954}"/>
              </a:ext>
            </a:extLst>
          </p:cNvPr>
          <p:cNvSpPr>
            <a:spLocks xmlns:a="http://schemas.openxmlformats.org/drawingml/2006/main" noGrp="1"/>
          </p:cNvSpPr>
          <p:nvPr/>
        </p:nvSpPr>
        <p:spPr>
          <a:xfrm xmlns:a="http://schemas.openxmlformats.org/drawingml/2006/main">
            <a:off x="11125200" y="2667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94A19E"/>
                </a:solidFill>
                <a:latin typeface="Menlo"/>
                <a:ea typeface="Menlo"/>
                <a:cs typeface="Menlo"/>
              </a:defRPr>
            </a:pPr>
            <a:r>
              <a:rPr sz="975" b="1">
                <a:solidFill>
                  <a:srgbClr val="94A19E"/>
                </a:solidFill>
                <a:latin typeface="Menlo"/>
                <a:ea typeface="Menlo"/>
                <a:cs typeface="Menlo"/>
              </a:rPr>
              <a:t>03</a:t>
            </a:r>
          </a:p>
        </p:txBody>
      </p:sp>
      <p:sp>
        <p:nvSpPr>
          <p:cNvPr id="3" name="">
            <a:extLst xmlns:a="http://schemas.openxmlformats.org/drawingml/2006/main">
              <a:ext uri="{FF2B5EF4-FFF2-40B4-BE49-F238E27FC236}">
                <a16:creationId xmlns:a16="http://schemas.microsoft.com/office/drawing/2014/main" id="{7C498B40-356E-4B65-8C8D-E204B92168E8}"/>
              </a:ext>
            </a:extLst>
          </p:cNvPr>
          <p:cNvSpPr>
            <a:spLocks xmlns:a="http://schemas.openxmlformats.org/drawingml/2006/main" noGrp="1"/>
          </p:cNvSpPr>
          <p:nvPr/>
        </p:nvSpPr>
        <p:spPr>
          <a:xfrm xmlns:a="http://schemas.openxmlformats.org/drawingml/2006/main">
            <a:off x="533400" y="581025"/>
            <a:ext cx="111252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4" name="">
            <a:extLst xmlns:a="http://schemas.openxmlformats.org/drawingml/2006/main">
              <a:ext uri="{FF2B5EF4-FFF2-40B4-BE49-F238E27FC236}">
                <a16:creationId xmlns:a16="http://schemas.microsoft.com/office/drawing/2014/main" id="{22E6117A-AFF7-4B18-9304-79CCBC07BF7A}"/>
              </a:ext>
            </a:extLst>
          </p:cNvPr>
          <p:cNvSpPr>
            <a:spLocks xmlns:a="http://schemas.openxmlformats.org/drawingml/2006/main" noGrp="1"/>
          </p:cNvSpPr>
          <p:nvPr/>
        </p:nvSpPr>
        <p:spPr>
          <a:xfrm xmlns:a="http://schemas.openxmlformats.org/drawingml/2006/main">
            <a:off x="533400" y="74295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F1F5F2"/>
                </a:solidFill>
                <a:latin typeface="Roboto"/>
                <a:ea typeface="Roboto"/>
                <a:cs typeface="Roboto"/>
              </a:defRPr>
            </a:pPr>
            <a:r>
              <a:rPr sz="2700" b="1">
                <a:solidFill>
                  <a:srgbClr val="F1F5F2"/>
                </a:solidFill>
                <a:latin typeface="Roboto"/>
                <a:ea typeface="Roboto"/>
                <a:cs typeface="Roboto"/>
              </a:rPr>
              <a:t>Product vision</a:t>
            </a:r>
          </a:p>
        </p:txBody>
      </p:sp>
      <p:sp>
        <p:nvSpPr>
          <p:cNvPr id="5" name="">
            <a:extLst xmlns:a="http://schemas.openxmlformats.org/drawingml/2006/main">
              <a:ext uri="{FF2B5EF4-FFF2-40B4-BE49-F238E27FC236}">
                <a16:creationId xmlns:a16="http://schemas.microsoft.com/office/drawing/2014/main" id="{DC0EA3CB-C24E-4922-A20A-7F6FF3A3359A}"/>
              </a:ext>
            </a:extLst>
          </p:cNvPr>
          <p:cNvSpPr>
            <a:spLocks xmlns:a="http://schemas.openxmlformats.org/drawingml/2006/main" noGrp="1"/>
          </p:cNvSpPr>
          <p:nvPr/>
        </p:nvSpPr>
        <p:spPr>
          <a:xfrm xmlns:a="http://schemas.openxmlformats.org/drawingml/2006/main">
            <a:off x="533400" y="1428750"/>
            <a:ext cx="10477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50" b="1">
                <a:solidFill>
                  <a:srgbClr val="F1F5F2"/>
                </a:solidFill>
                <a:latin typeface="Roboto"/>
                <a:ea typeface="Roboto"/>
                <a:cs typeface="Roboto"/>
              </a:defRPr>
            </a:pPr>
            <a:r>
              <a:rPr sz="2850" b="1">
                <a:solidFill>
                  <a:srgbClr val="F1F5F2"/>
                </a:solidFill>
                <a:latin typeface="Roboto"/>
                <a:ea typeface="Roboto"/>
                <a:cs typeface="Roboto"/>
              </a:rPr>
              <a:t>A shared 3D board that feels physical, while the software handles the rules.</a:t>
            </a:r>
          </a:p>
        </p:txBody>
      </p:sp>
      <p:sp>
        <p:nvSpPr>
          <p:cNvPr id="6" name="">
            <a:extLst xmlns:a="http://schemas.openxmlformats.org/drawingml/2006/main">
              <a:ext uri="{FF2B5EF4-FFF2-40B4-BE49-F238E27FC236}">
                <a16:creationId xmlns:a16="http://schemas.microsoft.com/office/drawing/2014/main" id="{1E7D3CEC-5EB3-4675-98D9-98D13761A4AC}"/>
              </a:ext>
            </a:extLst>
          </p:cNvPr>
          <p:cNvSpPr>
            <a:spLocks xmlns:a="http://schemas.openxmlformats.org/drawingml/2006/main" noGrp="1"/>
          </p:cNvSpPr>
          <p:nvPr/>
        </p:nvSpPr>
        <p:spPr>
          <a:xfrm xmlns:a="http://schemas.openxmlformats.org/drawingml/2006/main">
            <a:off x="533400" y="2990850"/>
            <a:ext cx="2266950" cy="95"/>
          </a:xfrm>
          <a:prstGeom xmlns:a="http://schemas.openxmlformats.org/drawingml/2006/main" prst="line">
            <a:avLst/>
          </a:prstGeom>
          <a:noFill xmlns:a="http://schemas.openxmlformats.org/drawingml/2006/main"/>
          <a:ln xmlns:a="http://schemas.openxmlformats.org/drawingml/2006/main" w="38100">
            <a:solidFill>
              <a:srgbClr val="B6FF3B"/>
            </a:solidFill>
          </a:ln>
        </p:spPr>
      </p:sp>
      <p:sp>
        <p:nvSpPr>
          <p:cNvPr id="7" name="">
            <a:extLst xmlns:a="http://schemas.openxmlformats.org/drawingml/2006/main">
              <a:ext uri="{FF2B5EF4-FFF2-40B4-BE49-F238E27FC236}">
                <a16:creationId xmlns:a16="http://schemas.microsoft.com/office/drawing/2014/main" id="{AFECE942-703C-44A9-90F5-B8A5B7535697}"/>
              </a:ext>
            </a:extLst>
          </p:cNvPr>
          <p:cNvSpPr>
            <a:spLocks xmlns:a="http://schemas.openxmlformats.org/drawingml/2006/main" noGrp="1"/>
          </p:cNvSpPr>
          <p:nvPr/>
        </p:nvSpPr>
        <p:spPr>
          <a:xfrm xmlns:a="http://schemas.openxmlformats.org/drawingml/2006/main">
            <a:off x="533400" y="3200400"/>
            <a:ext cx="2266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B6FF3B"/>
                </a:solidFill>
                <a:latin typeface="Menlo"/>
                <a:ea typeface="Menlo"/>
                <a:cs typeface="Menlo"/>
              </a:defRPr>
            </a:pPr>
            <a:r>
              <a:rPr sz="1200" b="1">
                <a:solidFill>
                  <a:srgbClr val="B6FF3B"/>
                </a:solidFill>
                <a:latin typeface="Menlo"/>
                <a:ea typeface="Menlo"/>
                <a:cs typeface="Menlo"/>
              </a:rPr>
              <a:t>SHARED BOARD</a:t>
            </a:r>
          </a:p>
        </p:txBody>
      </p:sp>
      <p:sp>
        <p:nvSpPr>
          <p:cNvPr id="8" name="">
            <a:extLst xmlns:a="http://schemas.openxmlformats.org/drawingml/2006/main">
              <a:ext uri="{FF2B5EF4-FFF2-40B4-BE49-F238E27FC236}">
                <a16:creationId xmlns:a16="http://schemas.microsoft.com/office/drawing/2014/main" id="{8CD81ACF-A177-4CF9-8AE6-4A2464150740}"/>
              </a:ext>
            </a:extLst>
          </p:cNvPr>
          <p:cNvSpPr>
            <a:spLocks xmlns:a="http://schemas.openxmlformats.org/drawingml/2006/main" noGrp="1"/>
          </p:cNvSpPr>
          <p:nvPr/>
        </p:nvSpPr>
        <p:spPr>
          <a:xfrm xmlns:a="http://schemas.openxmlformats.org/drawingml/2006/main">
            <a:off x="533400" y="3714750"/>
            <a:ext cx="2266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1F5F2"/>
                </a:solidFill>
                <a:latin typeface="Roboto"/>
                <a:ea typeface="Roboto"/>
                <a:cs typeface="Roboto"/>
              </a:defRPr>
            </a:pPr>
            <a:r>
              <a:rPr sz="1650" b="1">
                <a:solidFill>
                  <a:srgbClr val="F1F5F2"/>
                </a:solidFill>
                <a:latin typeface="Roboto"/>
                <a:ea typeface="Roboto"/>
                <a:cs typeface="Roboto"/>
              </a:rPr>
              <a:t>One visible state for every player</a:t>
            </a:r>
          </a:p>
        </p:txBody>
      </p:sp>
      <p:sp>
        <p:nvSpPr>
          <p:cNvPr id="9" name="">
            <a:extLst xmlns:a="http://schemas.openxmlformats.org/drawingml/2006/main">
              <a:ext uri="{FF2B5EF4-FFF2-40B4-BE49-F238E27FC236}">
                <a16:creationId xmlns:a16="http://schemas.microsoft.com/office/drawing/2014/main" id="{56533542-D7F1-4A39-B992-3893393C7CC3}"/>
              </a:ext>
            </a:extLst>
          </p:cNvPr>
          <p:cNvSpPr>
            <a:spLocks xmlns:a="http://schemas.openxmlformats.org/drawingml/2006/main" noGrp="1"/>
          </p:cNvSpPr>
          <p:nvPr/>
        </p:nvSpPr>
        <p:spPr>
          <a:xfrm xmlns:a="http://schemas.openxmlformats.org/drawingml/2006/main">
            <a:off x="3333750" y="2990850"/>
            <a:ext cx="2266950" cy="95"/>
          </a:xfrm>
          <a:prstGeom xmlns:a="http://schemas.openxmlformats.org/drawingml/2006/main" prst="line">
            <a:avLst/>
          </a:prstGeom>
          <a:noFill xmlns:a="http://schemas.openxmlformats.org/drawingml/2006/main"/>
          <a:ln xmlns:a="http://schemas.openxmlformats.org/drawingml/2006/main" w="38100">
            <a:solidFill>
              <a:srgbClr val="45DDF4"/>
            </a:solidFill>
          </a:ln>
        </p:spPr>
      </p:sp>
      <p:sp>
        <p:nvSpPr>
          <p:cNvPr id="10" name="">
            <a:extLst xmlns:a="http://schemas.openxmlformats.org/drawingml/2006/main">
              <a:ext uri="{FF2B5EF4-FFF2-40B4-BE49-F238E27FC236}">
                <a16:creationId xmlns:a16="http://schemas.microsoft.com/office/drawing/2014/main" id="{96E8F691-9F01-4BD3-8B87-3819E25BC837}"/>
              </a:ext>
            </a:extLst>
          </p:cNvPr>
          <p:cNvSpPr>
            <a:spLocks xmlns:a="http://schemas.openxmlformats.org/drawingml/2006/main" noGrp="1"/>
          </p:cNvSpPr>
          <p:nvPr/>
        </p:nvSpPr>
        <p:spPr>
          <a:xfrm xmlns:a="http://schemas.openxmlformats.org/drawingml/2006/main">
            <a:off x="3333750" y="3200400"/>
            <a:ext cx="2266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45DDF4"/>
                </a:solidFill>
                <a:latin typeface="Menlo"/>
                <a:ea typeface="Menlo"/>
                <a:cs typeface="Menlo"/>
              </a:defRPr>
            </a:pPr>
            <a:r>
              <a:rPr sz="1200" b="1">
                <a:solidFill>
                  <a:srgbClr val="45DDF4"/>
                </a:solidFill>
                <a:latin typeface="Menlo"/>
                <a:ea typeface="Menlo"/>
                <a:cs typeface="Menlo"/>
              </a:rPr>
              <a:t>REMOTE PLAY</a:t>
            </a:r>
          </a:p>
        </p:txBody>
      </p:sp>
      <p:sp>
        <p:nvSpPr>
          <p:cNvPr id="11" name="">
            <a:extLst xmlns:a="http://schemas.openxmlformats.org/drawingml/2006/main">
              <a:ext uri="{FF2B5EF4-FFF2-40B4-BE49-F238E27FC236}">
                <a16:creationId xmlns:a16="http://schemas.microsoft.com/office/drawing/2014/main" id="{F028ED74-3DC4-4725-9DE1-95C6269BC25B}"/>
              </a:ext>
            </a:extLst>
          </p:cNvPr>
          <p:cNvSpPr>
            <a:spLocks xmlns:a="http://schemas.openxmlformats.org/drawingml/2006/main" noGrp="1"/>
          </p:cNvSpPr>
          <p:nvPr/>
        </p:nvSpPr>
        <p:spPr>
          <a:xfrm xmlns:a="http://schemas.openxmlformats.org/drawingml/2006/main">
            <a:off x="3333750" y="3714750"/>
            <a:ext cx="2266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1F5F2"/>
                </a:solidFill>
                <a:latin typeface="Roboto"/>
                <a:ea typeface="Roboto"/>
                <a:cs typeface="Roboto"/>
              </a:defRPr>
            </a:pPr>
            <a:r>
              <a:rPr sz="1650" b="1">
                <a:solidFill>
                  <a:srgbClr val="F1F5F2"/>
                </a:solidFill>
                <a:latin typeface="Roboto"/>
                <a:ea typeface="Roboto"/>
                <a:cs typeface="Roboto"/>
              </a:rPr>
              <a:t>Friends can join from anywhere</a:t>
            </a:r>
          </a:p>
        </p:txBody>
      </p:sp>
      <p:sp>
        <p:nvSpPr>
          <p:cNvPr id="12" name="">
            <a:extLst xmlns:a="http://schemas.openxmlformats.org/drawingml/2006/main">
              <a:ext uri="{FF2B5EF4-FFF2-40B4-BE49-F238E27FC236}">
                <a16:creationId xmlns:a16="http://schemas.microsoft.com/office/drawing/2014/main" id="{8B9042E3-D706-4BCD-9E35-FD1DAEA37DB2}"/>
              </a:ext>
            </a:extLst>
          </p:cNvPr>
          <p:cNvSpPr>
            <a:spLocks xmlns:a="http://schemas.openxmlformats.org/drawingml/2006/main" noGrp="1"/>
          </p:cNvSpPr>
          <p:nvPr/>
        </p:nvSpPr>
        <p:spPr>
          <a:xfrm xmlns:a="http://schemas.openxmlformats.org/drawingml/2006/main">
            <a:off x="6134100" y="2990850"/>
            <a:ext cx="2266950" cy="95"/>
          </a:xfrm>
          <a:prstGeom xmlns:a="http://schemas.openxmlformats.org/drawingml/2006/main" prst="line">
            <a:avLst/>
          </a:prstGeom>
          <a:noFill xmlns:a="http://schemas.openxmlformats.org/drawingml/2006/main"/>
          <a:ln xmlns:a="http://schemas.openxmlformats.org/drawingml/2006/main" w="38100">
            <a:solidFill>
              <a:srgbClr val="FFC857"/>
            </a:solidFill>
          </a:ln>
        </p:spPr>
      </p:sp>
      <p:sp>
        <p:nvSpPr>
          <p:cNvPr id="13" name="">
            <a:extLst xmlns:a="http://schemas.openxmlformats.org/drawingml/2006/main">
              <a:ext uri="{FF2B5EF4-FFF2-40B4-BE49-F238E27FC236}">
                <a16:creationId xmlns:a16="http://schemas.microsoft.com/office/drawing/2014/main" id="{A83A884D-D222-4786-A611-07281479E05C}"/>
              </a:ext>
            </a:extLst>
          </p:cNvPr>
          <p:cNvSpPr>
            <a:spLocks xmlns:a="http://schemas.openxmlformats.org/drawingml/2006/main" noGrp="1"/>
          </p:cNvSpPr>
          <p:nvPr/>
        </p:nvSpPr>
        <p:spPr>
          <a:xfrm xmlns:a="http://schemas.openxmlformats.org/drawingml/2006/main">
            <a:off x="6134100" y="3200400"/>
            <a:ext cx="2266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FFC857"/>
                </a:solidFill>
                <a:latin typeface="Menlo"/>
                <a:ea typeface="Menlo"/>
                <a:cs typeface="Menlo"/>
              </a:defRPr>
            </a:pPr>
            <a:r>
              <a:rPr sz="1200" b="1">
                <a:solidFill>
                  <a:srgbClr val="FFC857"/>
                </a:solidFill>
                <a:latin typeface="Menlo"/>
                <a:ea typeface="Menlo"/>
                <a:cs typeface="Menlo"/>
              </a:rPr>
              <a:t>AUTOMATIC RULES</a:t>
            </a:r>
          </a:p>
        </p:txBody>
      </p:sp>
      <p:sp>
        <p:nvSpPr>
          <p:cNvPr id="14" name="">
            <a:extLst xmlns:a="http://schemas.openxmlformats.org/drawingml/2006/main">
              <a:ext uri="{FF2B5EF4-FFF2-40B4-BE49-F238E27FC236}">
                <a16:creationId xmlns:a16="http://schemas.microsoft.com/office/drawing/2014/main" id="{FC2CD241-920F-4E25-94D6-7DF4D018E1C9}"/>
              </a:ext>
            </a:extLst>
          </p:cNvPr>
          <p:cNvSpPr>
            <a:spLocks xmlns:a="http://schemas.openxmlformats.org/drawingml/2006/main" noGrp="1"/>
          </p:cNvSpPr>
          <p:nvPr/>
        </p:nvSpPr>
        <p:spPr>
          <a:xfrm xmlns:a="http://schemas.openxmlformats.org/drawingml/2006/main">
            <a:off x="6134100" y="3714750"/>
            <a:ext cx="2266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1F5F2"/>
                </a:solidFill>
                <a:latin typeface="Roboto"/>
                <a:ea typeface="Roboto"/>
                <a:cs typeface="Roboto"/>
              </a:defRPr>
            </a:pPr>
            <a:r>
              <a:rPr sz="1650" b="1">
                <a:solidFill>
                  <a:srgbClr val="F1F5F2"/>
                </a:solidFill>
                <a:latin typeface="Roboto"/>
                <a:ea typeface="Roboto"/>
                <a:cs typeface="Roboto"/>
              </a:rPr>
              <a:t>Movement and hazards resolve consistently</a:t>
            </a:r>
          </a:p>
        </p:txBody>
      </p:sp>
      <p:sp>
        <p:nvSpPr>
          <p:cNvPr id="15" name="">
            <a:extLst xmlns:a="http://schemas.openxmlformats.org/drawingml/2006/main">
              <a:ext uri="{FF2B5EF4-FFF2-40B4-BE49-F238E27FC236}">
                <a16:creationId xmlns:a16="http://schemas.microsoft.com/office/drawing/2014/main" id="{57012295-DA3C-4C7B-B733-9340BC7CB770}"/>
              </a:ext>
            </a:extLst>
          </p:cNvPr>
          <p:cNvSpPr>
            <a:spLocks xmlns:a="http://schemas.openxmlformats.org/drawingml/2006/main" noGrp="1"/>
          </p:cNvSpPr>
          <p:nvPr/>
        </p:nvSpPr>
        <p:spPr>
          <a:xfrm xmlns:a="http://schemas.openxmlformats.org/drawingml/2006/main">
            <a:off x="8934450" y="2990850"/>
            <a:ext cx="2266950" cy="95"/>
          </a:xfrm>
          <a:prstGeom xmlns:a="http://schemas.openxmlformats.org/drawingml/2006/main" prst="line">
            <a:avLst/>
          </a:prstGeom>
          <a:noFill xmlns:a="http://schemas.openxmlformats.org/drawingml/2006/main"/>
          <a:ln xmlns:a="http://schemas.openxmlformats.org/drawingml/2006/main" w="38100">
            <a:solidFill>
              <a:srgbClr val="FF5C66"/>
            </a:solidFill>
          </a:ln>
        </p:spPr>
      </p:sp>
      <p:sp>
        <p:nvSpPr>
          <p:cNvPr id="16" name="">
            <a:extLst xmlns:a="http://schemas.openxmlformats.org/drawingml/2006/main">
              <a:ext uri="{FF2B5EF4-FFF2-40B4-BE49-F238E27FC236}">
                <a16:creationId xmlns:a16="http://schemas.microsoft.com/office/drawing/2014/main" id="{DE48BB96-AC4B-4B92-98BE-EFE44D2AAF47}"/>
              </a:ext>
            </a:extLst>
          </p:cNvPr>
          <p:cNvSpPr>
            <a:spLocks xmlns:a="http://schemas.openxmlformats.org/drawingml/2006/main" noGrp="1"/>
          </p:cNvSpPr>
          <p:nvPr/>
        </p:nvSpPr>
        <p:spPr>
          <a:xfrm xmlns:a="http://schemas.openxmlformats.org/drawingml/2006/main">
            <a:off x="8934450" y="3200400"/>
            <a:ext cx="2266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FF5C66"/>
                </a:solidFill>
                <a:latin typeface="Menlo"/>
                <a:ea typeface="Menlo"/>
                <a:cs typeface="Menlo"/>
              </a:defRPr>
            </a:pPr>
            <a:r>
              <a:rPr sz="1200" b="1">
                <a:solidFill>
                  <a:srgbClr val="FF5C66"/>
                </a:solidFill>
                <a:latin typeface="Menlo"/>
                <a:ea typeface="Menlo"/>
                <a:cs typeface="Menlo"/>
              </a:rPr>
              <a:t>BOARD-GAME FEEL</a:t>
            </a:r>
          </a:p>
        </p:txBody>
      </p:sp>
      <p:sp>
        <p:nvSpPr>
          <p:cNvPr id="17" name="">
            <a:extLst xmlns:a="http://schemas.openxmlformats.org/drawingml/2006/main">
              <a:ext uri="{FF2B5EF4-FFF2-40B4-BE49-F238E27FC236}">
                <a16:creationId xmlns:a16="http://schemas.microsoft.com/office/drawing/2014/main" id="{A8E9830F-1E74-4C6F-AA0F-A47E801D86EB}"/>
              </a:ext>
            </a:extLst>
          </p:cNvPr>
          <p:cNvSpPr>
            <a:spLocks xmlns:a="http://schemas.openxmlformats.org/drawingml/2006/main" noGrp="1"/>
          </p:cNvSpPr>
          <p:nvPr/>
        </p:nvSpPr>
        <p:spPr>
          <a:xfrm xmlns:a="http://schemas.openxmlformats.org/drawingml/2006/main">
            <a:off x="8934450" y="3714750"/>
            <a:ext cx="2266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1F5F2"/>
                </a:solidFill>
                <a:latin typeface="Roboto"/>
                <a:ea typeface="Roboto"/>
                <a:cs typeface="Roboto"/>
              </a:defRPr>
            </a:pPr>
            <a:r>
              <a:rPr sz="1650" b="1">
                <a:solidFill>
                  <a:srgbClr val="F1F5F2"/>
                </a:solidFill>
                <a:latin typeface="Roboto"/>
                <a:ea typeface="Roboto"/>
                <a:cs typeface="Roboto"/>
              </a:rPr>
              <a:t>Robots remain tactile and readable</a:t>
            </a:r>
          </a:p>
        </p:txBody>
      </p:sp>
      <p:sp>
        <p:nvSpPr>
          <p:cNvPr id="18" name="">
            <a:extLst xmlns:a="http://schemas.openxmlformats.org/drawingml/2006/main">
              <a:ext uri="{FF2B5EF4-FFF2-40B4-BE49-F238E27FC236}">
                <a16:creationId xmlns:a16="http://schemas.microsoft.com/office/drawing/2014/main" id="{1192EC91-E722-4563-8056-C0F0C4D31A96}"/>
              </a:ext>
            </a:extLst>
          </p:cNvPr>
          <p:cNvSpPr>
            <a:spLocks xmlns:a="http://schemas.openxmlformats.org/drawingml/2006/main" noGrp="1"/>
          </p:cNvSpPr>
          <p:nvPr/>
        </p:nvSpPr>
        <p:spPr>
          <a:xfrm xmlns:a="http://schemas.openxmlformats.org/drawingml/2006/main">
            <a:off x="533400" y="546735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94A19E"/>
                </a:solidFill>
                <a:latin typeface="Roboto"/>
                <a:ea typeface="Roboto"/>
                <a:cs typeface="Roboto"/>
              </a:defRPr>
            </a:pPr>
            <a:r>
              <a:rPr sz="1800" b="0">
                <a:solidFill>
                  <a:srgbClr val="94A19E"/>
                </a:solidFill>
                <a:latin typeface="Roboto"/>
                <a:ea typeface="Roboto"/>
                <a:cs typeface="Roboto"/>
              </a:rPr>
              <a:t>The product supports play. It does not replace the uncertainty that makes RoboRally fun.</a:t>
            </a:r>
          </a:p>
        </p:txBody>
      </p:sp>
    </p:spTree>
    <p:extLst>
      <p:ext uri="{BB962C8B-B14F-4D97-AF65-F5344CB8AC3E}">
        <p14:creationId xmlns:p14="http://schemas.microsoft.com/office/powerpoint/2010/main" val="894553624"/>
      </p:ext>
    </p:extLst>
  </p:cSld>
</p:sld>
</file>

<file path=ppt/slides/slide4.xml><?xml version="1.0" encoding="utf-8"?>
<p:sld xmlns:p="http://schemas.openxmlformats.org/presentationml/2006/main">
  <p:cSld>
    <p:bg>
      <p:bgPr>
        <a:solidFill xmlns:a="http://schemas.openxmlformats.org/drawingml/2006/main">
          <a:srgbClr val="090E0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9B711CB-C957-4CE2-B33F-4A6AA414A256}"/>
              </a:ext>
            </a:extLst>
          </p:cNvPr>
          <p:cNvSpPr>
            <a:spLocks xmlns:a="http://schemas.openxmlformats.org/drawingml/2006/main" noGrp="1"/>
          </p:cNvSpPr>
          <p:nvPr/>
        </p:nvSpPr>
        <p:spPr>
          <a:xfrm xmlns:a="http://schemas.openxmlformats.org/drawingml/2006/main">
            <a:off x="533400" y="2667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B6FF3B"/>
                </a:solidFill>
                <a:latin typeface="Menlo"/>
                <a:ea typeface="Menlo"/>
                <a:cs typeface="Menlo"/>
              </a:defRPr>
            </a:pPr>
            <a:r>
              <a:rPr sz="975" b="1">
                <a:solidFill>
                  <a:srgbClr val="B6FF3B"/>
                </a:solidFill>
                <a:latin typeface="Menlo"/>
                <a:ea typeface="Menlo"/>
                <a:cs typeface="Menlo"/>
              </a:rPr>
              <a:t>SYS::RR-02162</a:t>
            </a:r>
          </a:p>
        </p:txBody>
      </p:sp>
      <p:sp>
        <p:nvSpPr>
          <p:cNvPr id="2" name="">
            <a:extLst xmlns:a="http://schemas.openxmlformats.org/drawingml/2006/main">
              <a:ext uri="{FF2B5EF4-FFF2-40B4-BE49-F238E27FC236}">
                <a16:creationId xmlns:a16="http://schemas.microsoft.com/office/drawing/2014/main" id="{11C4EDD6-FC08-42E1-9F17-7CDDF690F0D0}"/>
              </a:ext>
            </a:extLst>
          </p:cNvPr>
          <p:cNvSpPr>
            <a:spLocks xmlns:a="http://schemas.openxmlformats.org/drawingml/2006/main" noGrp="1"/>
          </p:cNvSpPr>
          <p:nvPr/>
        </p:nvSpPr>
        <p:spPr>
          <a:xfrm xmlns:a="http://schemas.openxmlformats.org/drawingml/2006/main">
            <a:off x="11125200" y="2667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94A19E"/>
                </a:solidFill>
                <a:latin typeface="Menlo"/>
                <a:ea typeface="Menlo"/>
                <a:cs typeface="Menlo"/>
              </a:defRPr>
            </a:pPr>
            <a:r>
              <a:rPr sz="975" b="1">
                <a:solidFill>
                  <a:srgbClr val="94A19E"/>
                </a:solidFill>
                <a:latin typeface="Menlo"/>
                <a:ea typeface="Menlo"/>
                <a:cs typeface="Menlo"/>
              </a:rPr>
              <a:t>04</a:t>
            </a:r>
          </a:p>
        </p:txBody>
      </p:sp>
      <p:sp>
        <p:nvSpPr>
          <p:cNvPr id="3" name="">
            <a:extLst xmlns:a="http://schemas.openxmlformats.org/drawingml/2006/main">
              <a:ext uri="{FF2B5EF4-FFF2-40B4-BE49-F238E27FC236}">
                <a16:creationId xmlns:a16="http://schemas.microsoft.com/office/drawing/2014/main" id="{48710E66-4E3C-4D4D-B536-D275EB51605B}"/>
              </a:ext>
            </a:extLst>
          </p:cNvPr>
          <p:cNvSpPr>
            <a:spLocks xmlns:a="http://schemas.openxmlformats.org/drawingml/2006/main" noGrp="1"/>
          </p:cNvSpPr>
          <p:nvPr/>
        </p:nvSpPr>
        <p:spPr>
          <a:xfrm xmlns:a="http://schemas.openxmlformats.org/drawingml/2006/main">
            <a:off x="533400" y="581025"/>
            <a:ext cx="111252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4" name="">
            <a:extLst xmlns:a="http://schemas.openxmlformats.org/drawingml/2006/main">
              <a:ext uri="{FF2B5EF4-FFF2-40B4-BE49-F238E27FC236}">
                <a16:creationId xmlns:a16="http://schemas.microsoft.com/office/drawing/2014/main" id="{F4010BA6-791A-4CA2-A655-A727BAA527E7}"/>
              </a:ext>
            </a:extLst>
          </p:cNvPr>
          <p:cNvSpPr>
            <a:spLocks xmlns:a="http://schemas.openxmlformats.org/drawingml/2006/main" noGrp="1"/>
          </p:cNvSpPr>
          <p:nvPr/>
        </p:nvSpPr>
        <p:spPr>
          <a:xfrm xmlns:a="http://schemas.openxmlformats.org/drawingml/2006/main">
            <a:off x="533400" y="74295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F1F5F2"/>
                </a:solidFill>
                <a:latin typeface="Roboto"/>
                <a:ea typeface="Roboto"/>
                <a:cs typeface="Roboto"/>
              </a:defRPr>
            </a:pPr>
            <a:r>
              <a:rPr sz="2700" b="1">
                <a:solidFill>
                  <a:srgbClr val="F1F5F2"/>
                </a:solidFill>
                <a:latin typeface="Roboto"/>
                <a:ea typeface="Roboto"/>
                <a:cs typeface="Roboto"/>
              </a:rPr>
              <a:t>What players need to understand</a:t>
            </a:r>
          </a:p>
        </p:txBody>
      </p:sp>
      <p:sp>
        <p:nvSpPr>
          <p:cNvPr id="5" name="">
            <a:extLst xmlns:a="http://schemas.openxmlformats.org/drawingml/2006/main">
              <a:ext uri="{FF2B5EF4-FFF2-40B4-BE49-F238E27FC236}">
                <a16:creationId xmlns:a16="http://schemas.microsoft.com/office/drawing/2014/main" id="{6132794B-9B0A-490E-83A4-571854EBE7E3}"/>
              </a:ext>
            </a:extLst>
          </p:cNvPr>
          <p:cNvSpPr>
            <a:spLocks xmlns:a="http://schemas.openxmlformats.org/drawingml/2006/main" noGrp="1"/>
          </p:cNvSpPr>
          <p:nvPr/>
        </p:nvSpPr>
        <p:spPr>
          <a:xfrm xmlns:a="http://schemas.openxmlformats.org/drawingml/2006/main">
            <a:off x="4333875" y="3028950"/>
            <a:ext cx="3524250" cy="1314450"/>
          </a:xfrm>
          <a:prstGeom xmlns:a="http://schemas.openxmlformats.org/drawingml/2006/main" prst="roundRect">
            <a:avLst>
              <a:gd name="adj" fmla="val 8696"/>
            </a:avLst>
          </a:prstGeom>
          <a:solidFill xmlns:a="http://schemas.openxmlformats.org/drawingml/2006/main">
            <a:srgbClr val="182123"/>
          </a:solidFill>
          <a:ln xmlns:a="http://schemas.openxmlformats.org/drawingml/2006/main" w="28575">
            <a:solidFill>
              <a:srgbClr val="B6FF3B"/>
            </a:solidFill>
          </a:ln>
        </p:spPr>
      </p:sp>
      <p:sp>
        <p:nvSpPr>
          <p:cNvPr id="6" name="">
            <a:extLst xmlns:a="http://schemas.openxmlformats.org/drawingml/2006/main">
              <a:ext uri="{FF2B5EF4-FFF2-40B4-BE49-F238E27FC236}">
                <a16:creationId xmlns:a16="http://schemas.microsoft.com/office/drawing/2014/main" id="{E6BBA12B-E895-432B-865B-C36FC21B5565}"/>
              </a:ext>
            </a:extLst>
          </p:cNvPr>
          <p:cNvSpPr>
            <a:spLocks xmlns:a="http://schemas.openxmlformats.org/drawingml/2006/main" noGrp="1"/>
          </p:cNvSpPr>
          <p:nvPr/>
        </p:nvSpPr>
        <p:spPr>
          <a:xfrm xmlns:a="http://schemas.openxmlformats.org/drawingml/2006/main">
            <a:off x="4619625" y="3190875"/>
            <a:ext cx="295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F1F5F2"/>
                </a:solidFill>
                <a:latin typeface="Menlo"/>
                <a:ea typeface="Menlo"/>
                <a:cs typeface="Menlo"/>
              </a:defRPr>
            </a:pPr>
            <a:r>
              <a:rPr sz="2550" b="1">
                <a:solidFill>
                  <a:srgbClr val="F1F5F2"/>
                </a:solidFill>
                <a:latin typeface="Menlo"/>
                <a:ea typeface="Menlo"/>
                <a:cs typeface="Menlo"/>
              </a:rPr>
              <a:t>SHARED</a:t>
            </a:r>
          </a:p>
          <a:p xmlns:a="http://schemas.openxmlformats.org/drawingml/2006/main">
            <a:pPr algn="ctr">
              <a:defRPr sz="2550" b="1">
                <a:solidFill>
                  <a:srgbClr val="F1F5F2"/>
                </a:solidFill>
                <a:latin typeface="Menlo"/>
                <a:ea typeface="Menlo"/>
                <a:cs typeface="Menlo"/>
              </a:defRPr>
            </a:pPr>
            <a:r>
              <a:rPr sz="2550" b="1">
                <a:solidFill>
                  <a:srgbClr val="F1F5F2"/>
                </a:solidFill>
                <a:latin typeface="Menlo"/>
                <a:ea typeface="Menlo"/>
                <a:cs typeface="Menlo"/>
              </a:rPr>
              <a:t>BOARD</a:t>
            </a:r>
          </a:p>
        </p:txBody>
      </p:sp>
      <p:sp>
        <p:nvSpPr>
          <p:cNvPr id="7" name="">
            <a:extLst xmlns:a="http://schemas.openxmlformats.org/drawingml/2006/main">
              <a:ext uri="{FF2B5EF4-FFF2-40B4-BE49-F238E27FC236}">
                <a16:creationId xmlns:a16="http://schemas.microsoft.com/office/drawing/2014/main" id="{11740A66-BE41-4D61-8813-DD609FD63F91}"/>
              </a:ext>
            </a:extLst>
          </p:cNvPr>
          <p:cNvSpPr>
            <a:spLocks xmlns:a="http://schemas.openxmlformats.org/drawingml/2006/main" noGrp="1"/>
          </p:cNvSpPr>
          <p:nvPr/>
        </p:nvSpPr>
        <p:spPr>
          <a:xfrm xmlns:a="http://schemas.openxmlformats.org/drawingml/2006/main">
            <a:off x="2381250" y="3714750"/>
            <a:ext cx="1952625" cy="95"/>
          </a:xfrm>
          <a:prstGeom xmlns:a="http://schemas.openxmlformats.org/drawingml/2006/main" prst="line">
            <a:avLst/>
          </a:prstGeom>
          <a:noFill xmlns:a="http://schemas.openxmlformats.org/drawingml/2006/main"/>
          <a:ln xmlns:a="http://schemas.openxmlformats.org/drawingml/2006/main" w="19050">
            <a:solidFill>
              <a:srgbClr val="2A3637"/>
            </a:solidFill>
          </a:ln>
        </p:spPr>
      </p:sp>
      <p:sp>
        <p:nvSpPr>
          <p:cNvPr id="8" name="">
            <a:extLst xmlns:a="http://schemas.openxmlformats.org/drawingml/2006/main">
              <a:ext uri="{FF2B5EF4-FFF2-40B4-BE49-F238E27FC236}">
                <a16:creationId xmlns:a16="http://schemas.microsoft.com/office/drawing/2014/main" id="{EDAAA03D-759A-480B-B7A4-A421C8755744}"/>
              </a:ext>
            </a:extLst>
          </p:cNvPr>
          <p:cNvSpPr>
            <a:spLocks xmlns:a="http://schemas.openxmlformats.org/drawingml/2006/main" noGrp="1"/>
          </p:cNvSpPr>
          <p:nvPr/>
        </p:nvSpPr>
        <p:spPr>
          <a:xfrm xmlns:a="http://schemas.openxmlformats.org/drawingml/2006/main">
            <a:off x="7858125" y="3714750"/>
            <a:ext cx="1952625" cy="95"/>
          </a:xfrm>
          <a:prstGeom xmlns:a="http://schemas.openxmlformats.org/drawingml/2006/main" prst="line">
            <a:avLst/>
          </a:prstGeom>
          <a:noFill xmlns:a="http://schemas.openxmlformats.org/drawingml/2006/main"/>
          <a:ln xmlns:a="http://schemas.openxmlformats.org/drawingml/2006/main" w="19050">
            <a:solidFill>
              <a:srgbClr val="2A3637"/>
            </a:solidFill>
          </a:ln>
        </p:spPr>
      </p:sp>
      <p:sp>
        <p:nvSpPr>
          <p:cNvPr id="9" name="">
            <a:extLst xmlns:a="http://schemas.openxmlformats.org/drawingml/2006/main">
              <a:ext uri="{FF2B5EF4-FFF2-40B4-BE49-F238E27FC236}">
                <a16:creationId xmlns:a16="http://schemas.microsoft.com/office/drawing/2014/main" id="{C82AB533-B14F-4A8B-8BE2-F16DC91B7CE1}"/>
              </a:ext>
            </a:extLst>
          </p:cNvPr>
          <p:cNvSpPr>
            <a:spLocks xmlns:a="http://schemas.openxmlformats.org/drawingml/2006/main" noGrp="1"/>
          </p:cNvSpPr>
          <p:nvPr/>
        </p:nvSpPr>
        <p:spPr>
          <a:xfrm xmlns:a="http://schemas.openxmlformats.org/drawingml/2006/main">
            <a:off x="6096000" y="2152650"/>
            <a:ext cx="95" cy="876300"/>
          </a:xfrm>
          <a:prstGeom xmlns:a="http://schemas.openxmlformats.org/drawingml/2006/main" prst="line">
            <a:avLst/>
          </a:prstGeom>
          <a:noFill xmlns:a="http://schemas.openxmlformats.org/drawingml/2006/main"/>
          <a:ln xmlns:a="http://schemas.openxmlformats.org/drawingml/2006/main" w="19050">
            <a:solidFill>
              <a:srgbClr val="2A3637"/>
            </a:solidFill>
          </a:ln>
        </p:spPr>
      </p:sp>
      <p:sp>
        <p:nvSpPr>
          <p:cNvPr id="10" name="">
            <a:extLst xmlns:a="http://schemas.openxmlformats.org/drawingml/2006/main">
              <a:ext uri="{FF2B5EF4-FFF2-40B4-BE49-F238E27FC236}">
                <a16:creationId xmlns:a16="http://schemas.microsoft.com/office/drawing/2014/main" id="{391C6227-721A-4E56-B6E8-3267E196CACC}"/>
              </a:ext>
            </a:extLst>
          </p:cNvPr>
          <p:cNvSpPr>
            <a:spLocks xmlns:a="http://schemas.openxmlformats.org/drawingml/2006/main" noGrp="1"/>
          </p:cNvSpPr>
          <p:nvPr/>
        </p:nvSpPr>
        <p:spPr>
          <a:xfrm xmlns:a="http://schemas.openxmlformats.org/drawingml/2006/main">
            <a:off x="6096000" y="4343400"/>
            <a:ext cx="95" cy="590550"/>
          </a:xfrm>
          <a:prstGeom xmlns:a="http://schemas.openxmlformats.org/drawingml/2006/main" prst="line">
            <a:avLst/>
          </a:prstGeom>
          <a:noFill xmlns:a="http://schemas.openxmlformats.org/drawingml/2006/main"/>
          <a:ln xmlns:a="http://schemas.openxmlformats.org/drawingml/2006/main" w="19050">
            <a:solidFill>
              <a:srgbClr val="2A3637"/>
            </a:solidFill>
          </a:ln>
        </p:spPr>
      </p:sp>
      <p:sp>
        <p:nvSpPr>
          <p:cNvPr id="11" name="">
            <a:extLst xmlns:a="http://schemas.openxmlformats.org/drawingml/2006/main">
              <a:ext uri="{FF2B5EF4-FFF2-40B4-BE49-F238E27FC236}">
                <a16:creationId xmlns:a16="http://schemas.microsoft.com/office/drawing/2014/main" id="{81934A76-B06B-42B5-B61B-FC8CABC99D08}"/>
              </a:ext>
            </a:extLst>
          </p:cNvPr>
          <p:cNvSpPr>
            <a:spLocks xmlns:a="http://schemas.openxmlformats.org/drawingml/2006/main" noGrp="1"/>
          </p:cNvSpPr>
          <p:nvPr/>
        </p:nvSpPr>
        <p:spPr>
          <a:xfrm xmlns:a="http://schemas.openxmlformats.org/drawingml/2006/main">
            <a:off x="533400" y="3143250"/>
            <a:ext cx="18478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45DDF4"/>
                </a:solidFill>
                <a:latin typeface="Menlo"/>
                <a:ea typeface="Menlo"/>
                <a:cs typeface="Menlo"/>
              </a:defRPr>
            </a:pPr>
            <a:r>
              <a:rPr sz="1500" b="1">
                <a:solidFill>
                  <a:srgbClr val="45DDF4"/>
                </a:solidFill>
                <a:latin typeface="Menlo"/>
                <a:ea typeface="Menlo"/>
                <a:cs typeface="Menlo"/>
              </a:rPr>
              <a:t>ROBOT POSITION</a:t>
            </a:r>
          </a:p>
          <a:p xmlns:a="http://schemas.openxmlformats.org/drawingml/2006/main">
            <a:pPr algn="ctr">
              <a:defRPr sz="1500" b="1">
                <a:solidFill>
                  <a:srgbClr val="45DDF4"/>
                </a:solidFill>
                <a:latin typeface="Menlo"/>
                <a:ea typeface="Menlo"/>
                <a:cs typeface="Menlo"/>
              </a:defRPr>
            </a:pPr>
            <a:r>
              <a:rPr sz="1500" b="1">
                <a:solidFill>
                  <a:srgbClr val="45DDF4"/>
                </a:solidFill>
                <a:latin typeface="Menlo"/>
                <a:ea typeface="Menlo"/>
                <a:cs typeface="Menlo"/>
              </a:rPr>
              <a:t>+ DIRECTION</a:t>
            </a:r>
          </a:p>
        </p:txBody>
      </p:sp>
      <p:sp>
        <p:nvSpPr>
          <p:cNvPr id="12" name="">
            <a:extLst xmlns:a="http://schemas.openxmlformats.org/drawingml/2006/main">
              <a:ext uri="{FF2B5EF4-FFF2-40B4-BE49-F238E27FC236}">
                <a16:creationId xmlns:a16="http://schemas.microsoft.com/office/drawing/2014/main" id="{A5F31827-A391-448A-A186-3DE3297FA172}"/>
              </a:ext>
            </a:extLst>
          </p:cNvPr>
          <p:cNvSpPr>
            <a:spLocks xmlns:a="http://schemas.openxmlformats.org/drawingml/2006/main" noGrp="1"/>
          </p:cNvSpPr>
          <p:nvPr/>
        </p:nvSpPr>
        <p:spPr>
          <a:xfrm xmlns:a="http://schemas.openxmlformats.org/drawingml/2006/main">
            <a:off x="9810750" y="3143250"/>
            <a:ext cx="18478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FFC857"/>
                </a:solidFill>
                <a:latin typeface="Menlo"/>
                <a:ea typeface="Menlo"/>
                <a:cs typeface="Menlo"/>
              </a:defRPr>
            </a:pPr>
            <a:r>
              <a:rPr sz="1500" b="1">
                <a:solidFill>
                  <a:srgbClr val="FFC857"/>
                </a:solidFill>
                <a:latin typeface="Menlo"/>
                <a:ea typeface="Menlo"/>
                <a:cs typeface="Menlo"/>
              </a:rPr>
              <a:t>STATUS</a:t>
            </a:r>
          </a:p>
          <a:p xmlns:a="http://schemas.openxmlformats.org/drawingml/2006/main">
            <a:pPr algn="ctr">
              <a:defRPr sz="1500" b="1">
                <a:solidFill>
                  <a:srgbClr val="FFC857"/>
                </a:solidFill>
                <a:latin typeface="Menlo"/>
                <a:ea typeface="Menlo"/>
                <a:cs typeface="Menlo"/>
              </a:defRPr>
            </a:pPr>
            <a:r>
              <a:rPr sz="1500" b="1">
                <a:solidFill>
                  <a:srgbClr val="FFC857"/>
                </a:solidFill>
                <a:latin typeface="Menlo"/>
                <a:ea typeface="Menlo"/>
                <a:cs typeface="Menlo"/>
              </a:rPr>
              <a:t>+ PROGRESS</a:t>
            </a:r>
          </a:p>
        </p:txBody>
      </p:sp>
      <p:sp>
        <p:nvSpPr>
          <p:cNvPr id="13" name="">
            <a:extLst xmlns:a="http://schemas.openxmlformats.org/drawingml/2006/main">
              <a:ext uri="{FF2B5EF4-FFF2-40B4-BE49-F238E27FC236}">
                <a16:creationId xmlns:a16="http://schemas.microsoft.com/office/drawing/2014/main" id="{1E81897F-E54B-4539-BB86-7A66D4E11ACD}"/>
              </a:ext>
            </a:extLst>
          </p:cNvPr>
          <p:cNvSpPr>
            <a:spLocks xmlns:a="http://schemas.openxmlformats.org/drawingml/2006/main" noGrp="1"/>
          </p:cNvSpPr>
          <p:nvPr/>
        </p:nvSpPr>
        <p:spPr>
          <a:xfrm xmlns:a="http://schemas.openxmlformats.org/drawingml/2006/main">
            <a:off x="4667250" y="1562100"/>
            <a:ext cx="285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FF5C66"/>
                </a:solidFill>
                <a:latin typeface="Menlo"/>
                <a:ea typeface="Menlo"/>
                <a:cs typeface="Menlo"/>
              </a:defRPr>
            </a:pPr>
            <a:r>
              <a:rPr sz="1575" b="1">
                <a:solidFill>
                  <a:srgbClr val="FF5C66"/>
                </a:solidFill>
                <a:latin typeface="Menlo"/>
                <a:ea typeface="Menlo"/>
                <a:cs typeface="Menlo"/>
              </a:rPr>
              <a:t>CURRENT PHASE</a:t>
            </a:r>
          </a:p>
        </p:txBody>
      </p:sp>
      <p:sp>
        <p:nvSpPr>
          <p:cNvPr id="14" name="">
            <a:extLst xmlns:a="http://schemas.openxmlformats.org/drawingml/2006/main">
              <a:ext uri="{FF2B5EF4-FFF2-40B4-BE49-F238E27FC236}">
                <a16:creationId xmlns:a16="http://schemas.microsoft.com/office/drawing/2014/main" id="{A68791FC-FBAE-4C19-AE77-8DDB5CEC9555}"/>
              </a:ext>
            </a:extLst>
          </p:cNvPr>
          <p:cNvSpPr>
            <a:spLocks xmlns:a="http://schemas.openxmlformats.org/drawingml/2006/main" noGrp="1"/>
          </p:cNvSpPr>
          <p:nvPr/>
        </p:nvSpPr>
        <p:spPr>
          <a:xfrm xmlns:a="http://schemas.openxmlformats.org/drawingml/2006/main">
            <a:off x="4667250" y="4933950"/>
            <a:ext cx="285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B6FF3B"/>
                </a:solidFill>
                <a:latin typeface="Menlo"/>
                <a:ea typeface="Menlo"/>
                <a:cs typeface="Menlo"/>
              </a:defRPr>
            </a:pPr>
            <a:r>
              <a:rPr sz="1575" b="1">
                <a:solidFill>
                  <a:srgbClr val="B6FF3B"/>
                </a:solidFill>
                <a:latin typeface="Menlo"/>
                <a:ea typeface="Menlo"/>
                <a:cs typeface="Menlo"/>
              </a:rPr>
              <a:t>ACTION CARDS</a:t>
            </a:r>
          </a:p>
        </p:txBody>
      </p:sp>
      <p:sp>
        <p:nvSpPr>
          <p:cNvPr id="15" name="">
            <a:extLst xmlns:a="http://schemas.openxmlformats.org/drawingml/2006/main">
              <a:ext uri="{FF2B5EF4-FFF2-40B4-BE49-F238E27FC236}">
                <a16:creationId xmlns:a16="http://schemas.microsoft.com/office/drawing/2014/main" id="{64C3DE0B-C3D2-4812-8B06-2055BBEEA426}"/>
              </a:ext>
            </a:extLst>
          </p:cNvPr>
          <p:cNvSpPr>
            <a:spLocks xmlns:a="http://schemas.openxmlformats.org/drawingml/2006/main" noGrp="1"/>
          </p:cNvSpPr>
          <p:nvPr/>
        </p:nvSpPr>
        <p:spPr>
          <a:xfrm xmlns:a="http://schemas.openxmlformats.org/drawingml/2006/main">
            <a:off x="1181100" y="5924550"/>
            <a:ext cx="9829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0">
                <a:solidFill>
                  <a:srgbClr val="94A19E"/>
                </a:solidFill>
                <a:latin typeface="Roboto"/>
                <a:ea typeface="Roboto"/>
                <a:cs typeface="Roboto"/>
              </a:defRPr>
            </a:pPr>
            <a:r>
              <a:rPr sz="1800" b="0">
                <a:solidFill>
                  <a:srgbClr val="94A19E"/>
                </a:solidFill>
                <a:latin typeface="Roboto"/>
                <a:ea typeface="Roboto"/>
                <a:cs typeface="Roboto"/>
              </a:rPr>
              <a:t>The board stays central. Everything around it explains what happens next.</a:t>
            </a:r>
          </a:p>
        </p:txBody>
      </p:sp>
    </p:spTree>
    <p:extLst>
      <p:ext uri="{BB962C8B-B14F-4D97-AF65-F5344CB8AC3E}">
        <p14:creationId xmlns:p14="http://schemas.microsoft.com/office/powerpoint/2010/main" val="1121631356"/>
      </p:ext>
    </p:extLst>
  </p:cSld>
</p:sld>
</file>

<file path=ppt/slides/slide5.xml><?xml version="1.0" encoding="utf-8"?>
<p:sld xmlns:p="http://schemas.openxmlformats.org/presentationml/2006/main">
  <p:cSld>
    <p:bg>
      <p:bgPr>
        <a:solidFill xmlns:a="http://schemas.openxmlformats.org/drawingml/2006/main">
          <a:srgbClr val="090E0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F68BD5FB-9B93-4DCF-B7EE-5CEC619D1637}"/>
              </a:ext>
            </a:extLst>
          </p:cNvPr>
          <p:cNvSpPr>
            <a:spLocks xmlns:a="http://schemas.openxmlformats.org/drawingml/2006/main" noGrp="1"/>
          </p:cNvSpPr>
          <p:nvPr/>
        </p:nvSpPr>
        <p:spPr>
          <a:xfrm xmlns:a="http://schemas.openxmlformats.org/drawingml/2006/main">
            <a:off x="533400" y="2667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B6FF3B"/>
                </a:solidFill>
                <a:latin typeface="Menlo"/>
                <a:ea typeface="Menlo"/>
                <a:cs typeface="Menlo"/>
              </a:defRPr>
            </a:pPr>
            <a:r>
              <a:rPr sz="975" b="1">
                <a:solidFill>
                  <a:srgbClr val="B6FF3B"/>
                </a:solidFill>
                <a:latin typeface="Menlo"/>
                <a:ea typeface="Menlo"/>
                <a:cs typeface="Menlo"/>
              </a:rPr>
              <a:t>SYS::RR-02162</a:t>
            </a:r>
          </a:p>
        </p:txBody>
      </p:sp>
      <p:sp>
        <p:nvSpPr>
          <p:cNvPr id="2" name="">
            <a:extLst xmlns:a="http://schemas.openxmlformats.org/drawingml/2006/main">
              <a:ext uri="{FF2B5EF4-FFF2-40B4-BE49-F238E27FC236}">
                <a16:creationId xmlns:a16="http://schemas.microsoft.com/office/drawing/2014/main" id="{DD88A833-4975-4FC8-A4D5-9E2D7D044368}"/>
              </a:ext>
            </a:extLst>
          </p:cNvPr>
          <p:cNvSpPr>
            <a:spLocks xmlns:a="http://schemas.openxmlformats.org/drawingml/2006/main" noGrp="1"/>
          </p:cNvSpPr>
          <p:nvPr/>
        </p:nvSpPr>
        <p:spPr>
          <a:xfrm xmlns:a="http://schemas.openxmlformats.org/drawingml/2006/main">
            <a:off x="11125200" y="2667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94A19E"/>
                </a:solidFill>
                <a:latin typeface="Menlo"/>
                <a:ea typeface="Menlo"/>
                <a:cs typeface="Menlo"/>
              </a:defRPr>
            </a:pPr>
            <a:r>
              <a:rPr sz="975" b="1">
                <a:solidFill>
                  <a:srgbClr val="94A19E"/>
                </a:solidFill>
                <a:latin typeface="Menlo"/>
                <a:ea typeface="Menlo"/>
                <a:cs typeface="Menlo"/>
              </a:rPr>
              <a:t>05</a:t>
            </a:r>
          </a:p>
        </p:txBody>
      </p:sp>
      <p:sp>
        <p:nvSpPr>
          <p:cNvPr id="3" name="">
            <a:extLst xmlns:a="http://schemas.openxmlformats.org/drawingml/2006/main">
              <a:ext uri="{FF2B5EF4-FFF2-40B4-BE49-F238E27FC236}">
                <a16:creationId xmlns:a16="http://schemas.microsoft.com/office/drawing/2014/main" id="{EC6ED608-350F-4ACD-8829-92B87495DC63}"/>
              </a:ext>
            </a:extLst>
          </p:cNvPr>
          <p:cNvSpPr>
            <a:spLocks xmlns:a="http://schemas.openxmlformats.org/drawingml/2006/main" noGrp="1"/>
          </p:cNvSpPr>
          <p:nvPr/>
        </p:nvSpPr>
        <p:spPr>
          <a:xfrm xmlns:a="http://schemas.openxmlformats.org/drawingml/2006/main">
            <a:off x="533400" y="581025"/>
            <a:ext cx="111252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4" name="">
            <a:extLst xmlns:a="http://schemas.openxmlformats.org/drawingml/2006/main">
              <a:ext uri="{FF2B5EF4-FFF2-40B4-BE49-F238E27FC236}">
                <a16:creationId xmlns:a16="http://schemas.microsoft.com/office/drawing/2014/main" id="{BB9E17B1-40EC-4EEC-BBFA-BE0F746D9369}"/>
              </a:ext>
            </a:extLst>
          </p:cNvPr>
          <p:cNvSpPr>
            <a:spLocks xmlns:a="http://schemas.openxmlformats.org/drawingml/2006/main" noGrp="1"/>
          </p:cNvSpPr>
          <p:nvPr/>
        </p:nvSpPr>
        <p:spPr>
          <a:xfrm xmlns:a="http://schemas.openxmlformats.org/drawingml/2006/main">
            <a:off x="533400" y="74295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F1F5F2"/>
                </a:solidFill>
                <a:latin typeface="Roboto"/>
                <a:ea typeface="Roboto"/>
                <a:cs typeface="Roboto"/>
              </a:defRPr>
            </a:pPr>
            <a:r>
              <a:rPr sz="2700" b="1">
                <a:solidFill>
                  <a:srgbClr val="F1F5F2"/>
                </a:solidFill>
                <a:latin typeface="Roboto"/>
                <a:ea typeface="Roboto"/>
                <a:cs typeface="Roboto"/>
              </a:rPr>
              <a:t>One round from Alex's perspective</a:t>
            </a:r>
          </a:p>
        </p:txBody>
      </p:sp>
      <p:sp>
        <p:nvSpPr>
          <p:cNvPr id="5" name="">
            <a:extLst xmlns:a="http://schemas.openxmlformats.org/drawingml/2006/main">
              <a:ext uri="{FF2B5EF4-FFF2-40B4-BE49-F238E27FC236}">
                <a16:creationId xmlns:a16="http://schemas.microsoft.com/office/drawing/2014/main" id="{AA88869E-7EF0-40FC-AF89-77039ADF6A91}"/>
              </a:ext>
            </a:extLst>
          </p:cNvPr>
          <p:cNvSpPr>
            <a:spLocks xmlns:a="http://schemas.openxmlformats.org/drawingml/2006/main" noGrp="1"/>
          </p:cNvSpPr>
          <p:nvPr/>
        </p:nvSpPr>
        <p:spPr>
          <a:xfrm xmlns:a="http://schemas.openxmlformats.org/drawingml/2006/main">
            <a:off x="1143000" y="3390900"/>
            <a:ext cx="9906000" cy="95"/>
          </a:xfrm>
          <a:prstGeom xmlns:a="http://schemas.openxmlformats.org/drawingml/2006/main" prst="line">
            <a:avLst/>
          </a:prstGeom>
          <a:noFill xmlns:a="http://schemas.openxmlformats.org/drawingml/2006/main"/>
          <a:ln xmlns:a="http://schemas.openxmlformats.org/drawingml/2006/main" w="28575">
            <a:solidFill>
              <a:srgbClr val="2A3637"/>
            </a:solidFill>
          </a:ln>
        </p:spPr>
      </p:sp>
      <p:sp>
        <p:nvSpPr>
          <p:cNvPr id="6" name="">
            <a:extLst xmlns:a="http://schemas.openxmlformats.org/drawingml/2006/main">
              <a:ext uri="{FF2B5EF4-FFF2-40B4-BE49-F238E27FC236}">
                <a16:creationId xmlns:a16="http://schemas.microsoft.com/office/drawing/2014/main" id="{CCC8FB32-C76A-4990-A467-D7463AA9307C}"/>
              </a:ext>
            </a:extLst>
          </p:cNvPr>
          <p:cNvSpPr>
            <a:spLocks xmlns:a="http://schemas.openxmlformats.org/drawingml/2006/main" noGrp="1"/>
          </p:cNvSpPr>
          <p:nvPr/>
        </p:nvSpPr>
        <p:spPr>
          <a:xfrm xmlns:a="http://schemas.openxmlformats.org/drawingml/2006/main">
            <a:off x="1419225" y="3190875"/>
            <a:ext cx="400050" cy="400050"/>
          </a:xfrm>
          <a:prstGeom xmlns:a="http://schemas.openxmlformats.org/drawingml/2006/main" prst="roundRect">
            <a:avLst>
              <a:gd name="adj" fmla="val 50000"/>
            </a:avLst>
          </a:prstGeom>
          <a:solidFill xmlns:a="http://schemas.openxmlformats.org/drawingml/2006/main">
            <a:srgbClr val="45DDF4"/>
          </a:solidFill>
          <a:ln xmlns:a="http://schemas.openxmlformats.org/drawingml/2006/main" w="0">
            <a:solidFill>
              <a:srgbClr val="45DDF4"/>
            </a:solidFill>
          </a:ln>
        </p:spPr>
      </p:sp>
      <p:sp>
        <p:nvSpPr>
          <p:cNvPr id="7" name="">
            <a:extLst xmlns:a="http://schemas.openxmlformats.org/drawingml/2006/main">
              <a:ext uri="{FF2B5EF4-FFF2-40B4-BE49-F238E27FC236}">
                <a16:creationId xmlns:a16="http://schemas.microsoft.com/office/drawing/2014/main" id="{2E2AFEDC-4634-4D84-AA2B-52F85F074916}"/>
              </a:ext>
            </a:extLst>
          </p:cNvPr>
          <p:cNvSpPr>
            <a:spLocks xmlns:a="http://schemas.openxmlformats.org/drawingml/2006/main" noGrp="1"/>
          </p:cNvSpPr>
          <p:nvPr/>
        </p:nvSpPr>
        <p:spPr>
          <a:xfrm xmlns:a="http://schemas.openxmlformats.org/drawingml/2006/main">
            <a:off x="666750" y="2057400"/>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45DDF4"/>
                </a:solidFill>
                <a:latin typeface="Menlo"/>
                <a:ea typeface="Menlo"/>
                <a:cs typeface="Menlo"/>
              </a:defRPr>
            </a:pPr>
            <a:r>
              <a:rPr sz="1350" b="1">
                <a:solidFill>
                  <a:srgbClr val="45DDF4"/>
                </a:solidFill>
                <a:latin typeface="Menlo"/>
                <a:ea typeface="Menlo"/>
                <a:cs typeface="Menlo"/>
              </a:rPr>
              <a:t>01</a:t>
            </a:r>
          </a:p>
        </p:txBody>
      </p:sp>
      <p:sp>
        <p:nvSpPr>
          <p:cNvPr id="8" name="">
            <a:extLst xmlns:a="http://schemas.openxmlformats.org/drawingml/2006/main">
              <a:ext uri="{FF2B5EF4-FFF2-40B4-BE49-F238E27FC236}">
                <a16:creationId xmlns:a16="http://schemas.microsoft.com/office/drawing/2014/main" id="{7ACB11FE-9591-40DD-A6F0-FC054286DA87}"/>
              </a:ext>
            </a:extLst>
          </p:cNvPr>
          <p:cNvSpPr>
            <a:spLocks xmlns:a="http://schemas.openxmlformats.org/drawingml/2006/main" noGrp="1"/>
          </p:cNvSpPr>
          <p:nvPr/>
        </p:nvSpPr>
        <p:spPr>
          <a:xfrm xmlns:a="http://schemas.openxmlformats.org/drawingml/2006/main">
            <a:off x="666750" y="2419350"/>
            <a:ext cx="190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F1F5F2"/>
                </a:solidFill>
                <a:latin typeface="Menlo"/>
                <a:ea typeface="Menlo"/>
                <a:cs typeface="Menlo"/>
              </a:defRPr>
            </a:pPr>
            <a:r>
              <a:rPr sz="1575" b="1">
                <a:solidFill>
                  <a:srgbClr val="F1F5F2"/>
                </a:solidFill>
                <a:latin typeface="Menlo"/>
                <a:ea typeface="Menlo"/>
                <a:cs typeface="Menlo"/>
              </a:rPr>
              <a:t>SEE</a:t>
            </a:r>
          </a:p>
        </p:txBody>
      </p:sp>
      <p:sp>
        <p:nvSpPr>
          <p:cNvPr id="9" name="">
            <a:extLst xmlns:a="http://schemas.openxmlformats.org/drawingml/2006/main">
              <a:ext uri="{FF2B5EF4-FFF2-40B4-BE49-F238E27FC236}">
                <a16:creationId xmlns:a16="http://schemas.microsoft.com/office/drawing/2014/main" id="{714D08D9-1C0F-4A1E-A6C2-456A11A717B6}"/>
              </a:ext>
            </a:extLst>
          </p:cNvPr>
          <p:cNvSpPr>
            <a:spLocks xmlns:a="http://schemas.openxmlformats.org/drawingml/2006/main" noGrp="1"/>
          </p:cNvSpPr>
          <p:nvPr/>
        </p:nvSpPr>
        <p:spPr>
          <a:xfrm xmlns:a="http://schemas.openxmlformats.org/drawingml/2006/main">
            <a:off x="666750" y="3867150"/>
            <a:ext cx="190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94A19E"/>
                </a:solidFill>
                <a:latin typeface="Roboto"/>
                <a:ea typeface="Roboto"/>
                <a:cs typeface="Roboto"/>
              </a:defRPr>
            </a:pPr>
            <a:r>
              <a:rPr sz="1350" b="0">
                <a:solidFill>
                  <a:srgbClr val="94A19E"/>
                </a:solidFill>
                <a:latin typeface="Roboto"/>
                <a:ea typeface="Roboto"/>
                <a:cs typeface="Roboto"/>
              </a:rPr>
              <a:t>Inspect board state</a:t>
            </a:r>
          </a:p>
        </p:txBody>
      </p:sp>
      <p:sp>
        <p:nvSpPr>
          <p:cNvPr id="10" name="">
            <a:extLst xmlns:a="http://schemas.openxmlformats.org/drawingml/2006/main">
              <a:ext uri="{FF2B5EF4-FFF2-40B4-BE49-F238E27FC236}">
                <a16:creationId xmlns:a16="http://schemas.microsoft.com/office/drawing/2014/main" id="{8C6260C1-5251-4F60-8C55-757B0E9885CE}"/>
              </a:ext>
            </a:extLst>
          </p:cNvPr>
          <p:cNvSpPr>
            <a:spLocks xmlns:a="http://schemas.openxmlformats.org/drawingml/2006/main" noGrp="1"/>
          </p:cNvSpPr>
          <p:nvPr/>
        </p:nvSpPr>
        <p:spPr>
          <a:xfrm xmlns:a="http://schemas.openxmlformats.org/drawingml/2006/main">
            <a:off x="3705225" y="3190875"/>
            <a:ext cx="400050" cy="400050"/>
          </a:xfrm>
          <a:prstGeom xmlns:a="http://schemas.openxmlformats.org/drawingml/2006/main" prst="roundRect">
            <a:avLst>
              <a:gd name="adj" fmla="val 50000"/>
            </a:avLst>
          </a:prstGeom>
          <a:solidFill xmlns:a="http://schemas.openxmlformats.org/drawingml/2006/main">
            <a:srgbClr val="B6FF3B"/>
          </a:solidFill>
          <a:ln xmlns:a="http://schemas.openxmlformats.org/drawingml/2006/main" w="0">
            <a:solidFill>
              <a:srgbClr val="B6FF3B"/>
            </a:solidFill>
          </a:ln>
        </p:spPr>
      </p:sp>
      <p:sp>
        <p:nvSpPr>
          <p:cNvPr id="11" name="">
            <a:extLst xmlns:a="http://schemas.openxmlformats.org/drawingml/2006/main">
              <a:ext uri="{FF2B5EF4-FFF2-40B4-BE49-F238E27FC236}">
                <a16:creationId xmlns:a16="http://schemas.microsoft.com/office/drawing/2014/main" id="{D315FBF8-E136-4E8C-B98C-D28B59E901E4}"/>
              </a:ext>
            </a:extLst>
          </p:cNvPr>
          <p:cNvSpPr>
            <a:spLocks xmlns:a="http://schemas.openxmlformats.org/drawingml/2006/main" noGrp="1"/>
          </p:cNvSpPr>
          <p:nvPr/>
        </p:nvSpPr>
        <p:spPr>
          <a:xfrm xmlns:a="http://schemas.openxmlformats.org/drawingml/2006/main">
            <a:off x="2952750" y="2057400"/>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B6FF3B"/>
                </a:solidFill>
                <a:latin typeface="Menlo"/>
                <a:ea typeface="Menlo"/>
                <a:cs typeface="Menlo"/>
              </a:defRPr>
            </a:pPr>
            <a:r>
              <a:rPr sz="1350" b="1">
                <a:solidFill>
                  <a:srgbClr val="B6FF3B"/>
                </a:solidFill>
                <a:latin typeface="Menlo"/>
                <a:ea typeface="Menlo"/>
                <a:cs typeface="Menlo"/>
              </a:rPr>
              <a:t>02</a:t>
            </a:r>
          </a:p>
        </p:txBody>
      </p:sp>
      <p:sp>
        <p:nvSpPr>
          <p:cNvPr id="12" name="">
            <a:extLst xmlns:a="http://schemas.openxmlformats.org/drawingml/2006/main">
              <a:ext uri="{FF2B5EF4-FFF2-40B4-BE49-F238E27FC236}">
                <a16:creationId xmlns:a16="http://schemas.microsoft.com/office/drawing/2014/main" id="{4D4B78C7-75A0-49D7-894E-4A52D9271695}"/>
              </a:ext>
            </a:extLst>
          </p:cNvPr>
          <p:cNvSpPr>
            <a:spLocks xmlns:a="http://schemas.openxmlformats.org/drawingml/2006/main" noGrp="1"/>
          </p:cNvSpPr>
          <p:nvPr/>
        </p:nvSpPr>
        <p:spPr>
          <a:xfrm xmlns:a="http://schemas.openxmlformats.org/drawingml/2006/main">
            <a:off x="2952750" y="2419350"/>
            <a:ext cx="190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F1F5F2"/>
                </a:solidFill>
                <a:latin typeface="Menlo"/>
                <a:ea typeface="Menlo"/>
                <a:cs typeface="Menlo"/>
              </a:defRPr>
            </a:pPr>
            <a:r>
              <a:rPr sz="1575" b="1">
                <a:solidFill>
                  <a:srgbClr val="F1F5F2"/>
                </a:solidFill>
                <a:latin typeface="Menlo"/>
                <a:ea typeface="Menlo"/>
                <a:cs typeface="Menlo"/>
              </a:rPr>
              <a:t>PROGRAM</a:t>
            </a:r>
          </a:p>
        </p:txBody>
      </p:sp>
      <p:sp>
        <p:nvSpPr>
          <p:cNvPr id="13" name="">
            <a:extLst xmlns:a="http://schemas.openxmlformats.org/drawingml/2006/main">
              <a:ext uri="{FF2B5EF4-FFF2-40B4-BE49-F238E27FC236}">
                <a16:creationId xmlns:a16="http://schemas.microsoft.com/office/drawing/2014/main" id="{CA447131-2A34-43F9-9F45-1CBF5B3F3832}"/>
              </a:ext>
            </a:extLst>
          </p:cNvPr>
          <p:cNvSpPr>
            <a:spLocks xmlns:a="http://schemas.openxmlformats.org/drawingml/2006/main" noGrp="1"/>
          </p:cNvSpPr>
          <p:nvPr/>
        </p:nvSpPr>
        <p:spPr>
          <a:xfrm xmlns:a="http://schemas.openxmlformats.org/drawingml/2006/main">
            <a:off x="2952750" y="3867150"/>
            <a:ext cx="190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94A19E"/>
                </a:solidFill>
                <a:latin typeface="Roboto"/>
                <a:ea typeface="Roboto"/>
                <a:cs typeface="Roboto"/>
              </a:defRPr>
            </a:pPr>
            <a:r>
              <a:rPr sz="1350" b="0">
                <a:solidFill>
                  <a:srgbClr val="94A19E"/>
                </a:solidFill>
                <a:latin typeface="Roboto"/>
                <a:ea typeface="Roboto"/>
                <a:cs typeface="Roboto"/>
              </a:rPr>
              <a:t>Choose five cards</a:t>
            </a:r>
          </a:p>
        </p:txBody>
      </p:sp>
      <p:sp>
        <p:nvSpPr>
          <p:cNvPr id="14" name="">
            <a:extLst xmlns:a="http://schemas.openxmlformats.org/drawingml/2006/main">
              <a:ext uri="{FF2B5EF4-FFF2-40B4-BE49-F238E27FC236}">
                <a16:creationId xmlns:a16="http://schemas.microsoft.com/office/drawing/2014/main" id="{97E24834-DB0E-4357-849E-123E14CD4462}"/>
              </a:ext>
            </a:extLst>
          </p:cNvPr>
          <p:cNvSpPr>
            <a:spLocks xmlns:a="http://schemas.openxmlformats.org/drawingml/2006/main" noGrp="1"/>
          </p:cNvSpPr>
          <p:nvPr/>
        </p:nvSpPr>
        <p:spPr>
          <a:xfrm xmlns:a="http://schemas.openxmlformats.org/drawingml/2006/main">
            <a:off x="5991225" y="3190875"/>
            <a:ext cx="400050" cy="400050"/>
          </a:xfrm>
          <a:prstGeom xmlns:a="http://schemas.openxmlformats.org/drawingml/2006/main" prst="roundRect">
            <a:avLst>
              <a:gd name="adj" fmla="val 50000"/>
            </a:avLst>
          </a:prstGeom>
          <a:solidFill xmlns:a="http://schemas.openxmlformats.org/drawingml/2006/main">
            <a:srgbClr val="FFC857"/>
          </a:solidFill>
          <a:ln xmlns:a="http://schemas.openxmlformats.org/drawingml/2006/main" w="0">
            <a:solidFill>
              <a:srgbClr val="FFC857"/>
            </a:solidFill>
          </a:ln>
        </p:spPr>
      </p:sp>
      <p:sp>
        <p:nvSpPr>
          <p:cNvPr id="15" name="">
            <a:extLst xmlns:a="http://schemas.openxmlformats.org/drawingml/2006/main">
              <a:ext uri="{FF2B5EF4-FFF2-40B4-BE49-F238E27FC236}">
                <a16:creationId xmlns:a16="http://schemas.microsoft.com/office/drawing/2014/main" id="{741ECDE6-56CA-425A-AB3B-682C63C25B29}"/>
              </a:ext>
            </a:extLst>
          </p:cNvPr>
          <p:cNvSpPr>
            <a:spLocks xmlns:a="http://schemas.openxmlformats.org/drawingml/2006/main" noGrp="1"/>
          </p:cNvSpPr>
          <p:nvPr/>
        </p:nvSpPr>
        <p:spPr>
          <a:xfrm xmlns:a="http://schemas.openxmlformats.org/drawingml/2006/main">
            <a:off x="5238750" y="2057400"/>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FFC857"/>
                </a:solidFill>
                <a:latin typeface="Menlo"/>
                <a:ea typeface="Menlo"/>
                <a:cs typeface="Menlo"/>
              </a:defRPr>
            </a:pPr>
            <a:r>
              <a:rPr sz="1350" b="1">
                <a:solidFill>
                  <a:srgbClr val="FFC857"/>
                </a:solidFill>
                <a:latin typeface="Menlo"/>
                <a:ea typeface="Menlo"/>
                <a:cs typeface="Menlo"/>
              </a:rPr>
              <a:t>03</a:t>
            </a:r>
          </a:p>
        </p:txBody>
      </p:sp>
      <p:sp>
        <p:nvSpPr>
          <p:cNvPr id="16" name="">
            <a:extLst xmlns:a="http://schemas.openxmlformats.org/drawingml/2006/main">
              <a:ext uri="{FF2B5EF4-FFF2-40B4-BE49-F238E27FC236}">
                <a16:creationId xmlns:a16="http://schemas.microsoft.com/office/drawing/2014/main" id="{A00EB8CF-2CFF-4E0B-B81F-BC33090967DC}"/>
              </a:ext>
            </a:extLst>
          </p:cNvPr>
          <p:cNvSpPr>
            <a:spLocks xmlns:a="http://schemas.openxmlformats.org/drawingml/2006/main" noGrp="1"/>
          </p:cNvSpPr>
          <p:nvPr/>
        </p:nvSpPr>
        <p:spPr>
          <a:xfrm xmlns:a="http://schemas.openxmlformats.org/drawingml/2006/main">
            <a:off x="5238750" y="2419350"/>
            <a:ext cx="190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F1F5F2"/>
                </a:solidFill>
                <a:latin typeface="Menlo"/>
                <a:ea typeface="Menlo"/>
                <a:cs typeface="Menlo"/>
              </a:defRPr>
            </a:pPr>
            <a:r>
              <a:rPr sz="1575" b="1">
                <a:solidFill>
                  <a:srgbClr val="F1F5F2"/>
                </a:solidFill>
                <a:latin typeface="Menlo"/>
                <a:ea typeface="Menlo"/>
                <a:cs typeface="Menlo"/>
              </a:rPr>
              <a:t>LOCK</a:t>
            </a:r>
          </a:p>
        </p:txBody>
      </p:sp>
      <p:sp>
        <p:nvSpPr>
          <p:cNvPr id="17" name="">
            <a:extLst xmlns:a="http://schemas.openxmlformats.org/drawingml/2006/main">
              <a:ext uri="{FF2B5EF4-FFF2-40B4-BE49-F238E27FC236}">
                <a16:creationId xmlns:a16="http://schemas.microsoft.com/office/drawing/2014/main" id="{9F3ECCC3-63F5-47B8-8B7A-E996CF05F0D1}"/>
              </a:ext>
            </a:extLst>
          </p:cNvPr>
          <p:cNvSpPr>
            <a:spLocks xmlns:a="http://schemas.openxmlformats.org/drawingml/2006/main" noGrp="1"/>
          </p:cNvSpPr>
          <p:nvPr/>
        </p:nvSpPr>
        <p:spPr>
          <a:xfrm xmlns:a="http://schemas.openxmlformats.org/drawingml/2006/main">
            <a:off x="5238750" y="3867150"/>
            <a:ext cx="190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94A19E"/>
                </a:solidFill>
                <a:latin typeface="Roboto"/>
                <a:ea typeface="Roboto"/>
                <a:cs typeface="Roboto"/>
              </a:defRPr>
            </a:pPr>
            <a:r>
              <a:rPr sz="1350" b="0">
                <a:solidFill>
                  <a:srgbClr val="94A19E"/>
                </a:solidFill>
                <a:latin typeface="Roboto"/>
                <a:ea typeface="Roboto"/>
                <a:cs typeface="Roboto"/>
              </a:rPr>
              <a:t>Confirm the order</a:t>
            </a:r>
          </a:p>
        </p:txBody>
      </p:sp>
      <p:sp>
        <p:nvSpPr>
          <p:cNvPr id="18" name="">
            <a:extLst xmlns:a="http://schemas.openxmlformats.org/drawingml/2006/main">
              <a:ext uri="{FF2B5EF4-FFF2-40B4-BE49-F238E27FC236}">
                <a16:creationId xmlns:a16="http://schemas.microsoft.com/office/drawing/2014/main" id="{3211291E-F8A3-4B7D-8099-85DC82F1B8B5}"/>
              </a:ext>
            </a:extLst>
          </p:cNvPr>
          <p:cNvSpPr>
            <a:spLocks xmlns:a="http://schemas.openxmlformats.org/drawingml/2006/main" noGrp="1"/>
          </p:cNvSpPr>
          <p:nvPr/>
        </p:nvSpPr>
        <p:spPr>
          <a:xfrm xmlns:a="http://schemas.openxmlformats.org/drawingml/2006/main">
            <a:off x="8277225" y="3190875"/>
            <a:ext cx="400050" cy="400050"/>
          </a:xfrm>
          <a:prstGeom xmlns:a="http://schemas.openxmlformats.org/drawingml/2006/main" prst="roundRect">
            <a:avLst>
              <a:gd name="adj" fmla="val 50000"/>
            </a:avLst>
          </a:prstGeom>
          <a:solidFill xmlns:a="http://schemas.openxmlformats.org/drawingml/2006/main">
            <a:srgbClr val="FF5C66"/>
          </a:solidFill>
          <a:ln xmlns:a="http://schemas.openxmlformats.org/drawingml/2006/main" w="0">
            <a:solidFill>
              <a:srgbClr val="FF5C66"/>
            </a:solidFill>
          </a:ln>
        </p:spPr>
      </p:sp>
      <p:sp>
        <p:nvSpPr>
          <p:cNvPr id="19" name="">
            <a:extLst xmlns:a="http://schemas.openxmlformats.org/drawingml/2006/main">
              <a:ext uri="{FF2B5EF4-FFF2-40B4-BE49-F238E27FC236}">
                <a16:creationId xmlns:a16="http://schemas.microsoft.com/office/drawing/2014/main" id="{AE78F3F5-2123-4594-959D-25F0C8EDD7D9}"/>
              </a:ext>
            </a:extLst>
          </p:cNvPr>
          <p:cNvSpPr>
            <a:spLocks xmlns:a="http://schemas.openxmlformats.org/drawingml/2006/main" noGrp="1"/>
          </p:cNvSpPr>
          <p:nvPr/>
        </p:nvSpPr>
        <p:spPr>
          <a:xfrm xmlns:a="http://schemas.openxmlformats.org/drawingml/2006/main">
            <a:off x="7524750" y="2057400"/>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FF5C66"/>
                </a:solidFill>
                <a:latin typeface="Menlo"/>
                <a:ea typeface="Menlo"/>
                <a:cs typeface="Menlo"/>
              </a:defRPr>
            </a:pPr>
            <a:r>
              <a:rPr sz="1350" b="1">
                <a:solidFill>
                  <a:srgbClr val="FF5C66"/>
                </a:solidFill>
                <a:latin typeface="Menlo"/>
                <a:ea typeface="Menlo"/>
                <a:cs typeface="Menlo"/>
              </a:rPr>
              <a:t>04</a:t>
            </a:r>
          </a:p>
        </p:txBody>
      </p:sp>
      <p:sp>
        <p:nvSpPr>
          <p:cNvPr id="20" name="">
            <a:extLst xmlns:a="http://schemas.openxmlformats.org/drawingml/2006/main">
              <a:ext uri="{FF2B5EF4-FFF2-40B4-BE49-F238E27FC236}">
                <a16:creationId xmlns:a16="http://schemas.microsoft.com/office/drawing/2014/main" id="{FBF1F545-9183-43BC-A29C-003744F4E8A5}"/>
              </a:ext>
            </a:extLst>
          </p:cNvPr>
          <p:cNvSpPr>
            <a:spLocks xmlns:a="http://schemas.openxmlformats.org/drawingml/2006/main" noGrp="1"/>
          </p:cNvSpPr>
          <p:nvPr/>
        </p:nvSpPr>
        <p:spPr>
          <a:xfrm xmlns:a="http://schemas.openxmlformats.org/drawingml/2006/main">
            <a:off x="7524750" y="2419350"/>
            <a:ext cx="190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F1F5F2"/>
                </a:solidFill>
                <a:latin typeface="Menlo"/>
                <a:ea typeface="Menlo"/>
                <a:cs typeface="Menlo"/>
              </a:defRPr>
            </a:pPr>
            <a:r>
              <a:rPr sz="1575" b="1">
                <a:solidFill>
                  <a:srgbClr val="F1F5F2"/>
                </a:solidFill>
                <a:latin typeface="Menlo"/>
                <a:ea typeface="Menlo"/>
                <a:cs typeface="Menlo"/>
              </a:rPr>
              <a:t>RESOLVE</a:t>
            </a:r>
          </a:p>
        </p:txBody>
      </p:sp>
      <p:sp>
        <p:nvSpPr>
          <p:cNvPr id="21" name="">
            <a:extLst xmlns:a="http://schemas.openxmlformats.org/drawingml/2006/main">
              <a:ext uri="{FF2B5EF4-FFF2-40B4-BE49-F238E27FC236}">
                <a16:creationId xmlns:a16="http://schemas.microsoft.com/office/drawing/2014/main" id="{8527517E-648A-4DC6-BDB7-F00CCA7760DF}"/>
              </a:ext>
            </a:extLst>
          </p:cNvPr>
          <p:cNvSpPr>
            <a:spLocks xmlns:a="http://schemas.openxmlformats.org/drawingml/2006/main" noGrp="1"/>
          </p:cNvSpPr>
          <p:nvPr/>
        </p:nvSpPr>
        <p:spPr>
          <a:xfrm xmlns:a="http://schemas.openxmlformats.org/drawingml/2006/main">
            <a:off x="7524750" y="3867150"/>
            <a:ext cx="190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94A19E"/>
                </a:solidFill>
                <a:latin typeface="Roboto"/>
                <a:ea typeface="Roboto"/>
                <a:cs typeface="Roboto"/>
              </a:defRPr>
            </a:pPr>
            <a:r>
              <a:rPr sz="1350" b="0">
                <a:solidFill>
                  <a:srgbClr val="94A19E"/>
                </a:solidFill>
                <a:latin typeface="Roboto"/>
                <a:ea typeface="Roboto"/>
                <a:cs typeface="Roboto"/>
              </a:rPr>
              <a:t>Watch automatic execution</a:t>
            </a:r>
          </a:p>
        </p:txBody>
      </p:sp>
      <p:sp>
        <p:nvSpPr>
          <p:cNvPr id="22" name="">
            <a:extLst xmlns:a="http://schemas.openxmlformats.org/drawingml/2006/main">
              <a:ext uri="{FF2B5EF4-FFF2-40B4-BE49-F238E27FC236}">
                <a16:creationId xmlns:a16="http://schemas.microsoft.com/office/drawing/2014/main" id="{E97EB48A-F1DE-4735-BAA5-18D47D515CF4}"/>
              </a:ext>
            </a:extLst>
          </p:cNvPr>
          <p:cNvSpPr>
            <a:spLocks xmlns:a="http://schemas.openxmlformats.org/drawingml/2006/main" noGrp="1"/>
          </p:cNvSpPr>
          <p:nvPr/>
        </p:nvSpPr>
        <p:spPr>
          <a:xfrm xmlns:a="http://schemas.openxmlformats.org/drawingml/2006/main">
            <a:off x="10563225" y="3190875"/>
            <a:ext cx="400050" cy="400050"/>
          </a:xfrm>
          <a:prstGeom xmlns:a="http://schemas.openxmlformats.org/drawingml/2006/main" prst="roundRect">
            <a:avLst>
              <a:gd name="adj" fmla="val 50000"/>
            </a:avLst>
          </a:prstGeom>
          <a:solidFill xmlns:a="http://schemas.openxmlformats.org/drawingml/2006/main">
            <a:srgbClr val="45DDF4"/>
          </a:solidFill>
          <a:ln xmlns:a="http://schemas.openxmlformats.org/drawingml/2006/main" w="0">
            <a:solidFill>
              <a:srgbClr val="45DDF4"/>
            </a:solidFill>
          </a:ln>
        </p:spPr>
      </p:sp>
      <p:sp>
        <p:nvSpPr>
          <p:cNvPr id="23" name="">
            <a:extLst xmlns:a="http://schemas.openxmlformats.org/drawingml/2006/main">
              <a:ext uri="{FF2B5EF4-FFF2-40B4-BE49-F238E27FC236}">
                <a16:creationId xmlns:a16="http://schemas.microsoft.com/office/drawing/2014/main" id="{15BD4DA2-7979-451F-9FC5-56AA1876FC8B}"/>
              </a:ext>
            </a:extLst>
          </p:cNvPr>
          <p:cNvSpPr>
            <a:spLocks xmlns:a="http://schemas.openxmlformats.org/drawingml/2006/main" noGrp="1"/>
          </p:cNvSpPr>
          <p:nvPr/>
        </p:nvSpPr>
        <p:spPr>
          <a:xfrm xmlns:a="http://schemas.openxmlformats.org/drawingml/2006/main">
            <a:off x="9810750" y="2057400"/>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45DDF4"/>
                </a:solidFill>
                <a:latin typeface="Menlo"/>
                <a:ea typeface="Menlo"/>
                <a:cs typeface="Menlo"/>
              </a:defRPr>
            </a:pPr>
            <a:r>
              <a:rPr sz="1350" b="1">
                <a:solidFill>
                  <a:srgbClr val="45DDF4"/>
                </a:solidFill>
                <a:latin typeface="Menlo"/>
                <a:ea typeface="Menlo"/>
                <a:cs typeface="Menlo"/>
              </a:rPr>
              <a:t>05</a:t>
            </a:r>
          </a:p>
        </p:txBody>
      </p:sp>
      <p:sp>
        <p:nvSpPr>
          <p:cNvPr id="24" name="">
            <a:extLst xmlns:a="http://schemas.openxmlformats.org/drawingml/2006/main">
              <a:ext uri="{FF2B5EF4-FFF2-40B4-BE49-F238E27FC236}">
                <a16:creationId xmlns:a16="http://schemas.microsoft.com/office/drawing/2014/main" id="{6492CBBD-DA59-4A46-A5F0-A0B0F18DA116}"/>
              </a:ext>
            </a:extLst>
          </p:cNvPr>
          <p:cNvSpPr>
            <a:spLocks xmlns:a="http://schemas.openxmlformats.org/drawingml/2006/main" noGrp="1"/>
          </p:cNvSpPr>
          <p:nvPr/>
        </p:nvSpPr>
        <p:spPr>
          <a:xfrm xmlns:a="http://schemas.openxmlformats.org/drawingml/2006/main">
            <a:off x="9810750" y="2419350"/>
            <a:ext cx="190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F1F5F2"/>
                </a:solidFill>
                <a:latin typeface="Menlo"/>
                <a:ea typeface="Menlo"/>
                <a:cs typeface="Menlo"/>
              </a:defRPr>
            </a:pPr>
            <a:r>
              <a:rPr sz="1575" b="1">
                <a:solidFill>
                  <a:srgbClr val="F1F5F2"/>
                </a:solidFill>
                <a:latin typeface="Menlo"/>
                <a:ea typeface="Menlo"/>
                <a:cs typeface="Menlo"/>
              </a:rPr>
              <a:t>SYNC</a:t>
            </a:r>
          </a:p>
        </p:txBody>
      </p:sp>
      <p:sp>
        <p:nvSpPr>
          <p:cNvPr id="25" name="">
            <a:extLst xmlns:a="http://schemas.openxmlformats.org/drawingml/2006/main">
              <a:ext uri="{FF2B5EF4-FFF2-40B4-BE49-F238E27FC236}">
                <a16:creationId xmlns:a16="http://schemas.microsoft.com/office/drawing/2014/main" id="{4BC55C94-3BF1-475D-BEB6-3809BCAED276}"/>
              </a:ext>
            </a:extLst>
          </p:cNvPr>
          <p:cNvSpPr>
            <a:spLocks xmlns:a="http://schemas.openxmlformats.org/drawingml/2006/main" noGrp="1"/>
          </p:cNvSpPr>
          <p:nvPr/>
        </p:nvSpPr>
        <p:spPr>
          <a:xfrm xmlns:a="http://schemas.openxmlformats.org/drawingml/2006/main">
            <a:off x="9810750" y="3867150"/>
            <a:ext cx="190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94A19E"/>
                </a:solidFill>
                <a:latin typeface="Roboto"/>
                <a:ea typeface="Roboto"/>
                <a:cs typeface="Roboto"/>
              </a:defRPr>
            </a:pPr>
            <a:r>
              <a:rPr sz="1350" b="0">
                <a:solidFill>
                  <a:srgbClr val="94A19E"/>
                </a:solidFill>
                <a:latin typeface="Roboto"/>
                <a:ea typeface="Roboto"/>
                <a:cs typeface="Roboto"/>
              </a:rPr>
              <a:t>Continue from one result</a:t>
            </a:r>
          </a:p>
        </p:txBody>
      </p:sp>
      <p:sp>
        <p:nvSpPr>
          <p:cNvPr id="26" name="">
            <a:extLst xmlns:a="http://schemas.openxmlformats.org/drawingml/2006/main">
              <a:ext uri="{FF2B5EF4-FFF2-40B4-BE49-F238E27FC236}">
                <a16:creationId xmlns:a16="http://schemas.microsoft.com/office/drawing/2014/main" id="{8028D336-0572-4070-A87F-CD072AA51661}"/>
              </a:ext>
            </a:extLst>
          </p:cNvPr>
          <p:cNvSpPr>
            <a:spLocks xmlns:a="http://schemas.openxmlformats.org/drawingml/2006/main" noGrp="1"/>
          </p:cNvSpPr>
          <p:nvPr/>
        </p:nvSpPr>
        <p:spPr>
          <a:xfrm xmlns:a="http://schemas.openxmlformats.org/drawingml/2006/main">
            <a:off x="952500" y="556260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F1F5F2"/>
                </a:solidFill>
                <a:latin typeface="Roboto"/>
                <a:ea typeface="Roboto"/>
                <a:cs typeface="Roboto"/>
              </a:defRPr>
            </a:pPr>
            <a:r>
              <a:rPr sz="2100" b="1">
                <a:solidFill>
                  <a:srgbClr val="F1F5F2"/>
                </a:solidFill>
                <a:latin typeface="Roboto"/>
                <a:ea typeface="Roboto"/>
                <a:cs typeface="Roboto"/>
              </a:rPr>
              <a:t>Chaos remains in the outcome. Ambiguity disappears from the resolution.</a:t>
            </a:r>
          </a:p>
        </p:txBody>
      </p:sp>
    </p:spTree>
    <p:extLst>
      <p:ext uri="{BB962C8B-B14F-4D97-AF65-F5344CB8AC3E}">
        <p14:creationId xmlns:p14="http://schemas.microsoft.com/office/powerpoint/2010/main" val="1367454283"/>
      </p:ext>
    </p:extLst>
  </p:cSld>
</p:sld>
</file>

<file path=ppt/slides/slide6.xml><?xml version="1.0" encoding="utf-8"?>
<p:sld xmlns:p="http://schemas.openxmlformats.org/presentationml/2006/main">
  <p:cSld>
    <p:bg>
      <p:bgPr>
        <a:solidFill xmlns:a="http://schemas.openxmlformats.org/drawingml/2006/main">
          <a:srgbClr val="090E0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C5804AB-412A-442A-B7D6-F915D4C7FDE4}"/>
              </a:ext>
            </a:extLst>
          </p:cNvPr>
          <p:cNvSpPr>
            <a:spLocks xmlns:a="http://schemas.openxmlformats.org/drawingml/2006/main" noGrp="1"/>
          </p:cNvSpPr>
          <p:nvPr/>
        </p:nvSpPr>
        <p:spPr>
          <a:xfrm xmlns:a="http://schemas.openxmlformats.org/drawingml/2006/main">
            <a:off x="533400" y="2667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B6FF3B"/>
                </a:solidFill>
                <a:latin typeface="Menlo"/>
                <a:ea typeface="Menlo"/>
                <a:cs typeface="Menlo"/>
              </a:defRPr>
            </a:pPr>
            <a:r>
              <a:rPr sz="975" b="1">
                <a:solidFill>
                  <a:srgbClr val="B6FF3B"/>
                </a:solidFill>
                <a:latin typeface="Menlo"/>
                <a:ea typeface="Menlo"/>
                <a:cs typeface="Menlo"/>
              </a:rPr>
              <a:t>SYS::RR-02162</a:t>
            </a:r>
          </a:p>
        </p:txBody>
      </p:sp>
      <p:sp>
        <p:nvSpPr>
          <p:cNvPr id="2" name="">
            <a:extLst xmlns:a="http://schemas.openxmlformats.org/drawingml/2006/main">
              <a:ext uri="{FF2B5EF4-FFF2-40B4-BE49-F238E27FC236}">
                <a16:creationId xmlns:a16="http://schemas.microsoft.com/office/drawing/2014/main" id="{C9A27DDB-43B6-494B-A0D7-908A85C70D2C}"/>
              </a:ext>
            </a:extLst>
          </p:cNvPr>
          <p:cNvSpPr>
            <a:spLocks xmlns:a="http://schemas.openxmlformats.org/drawingml/2006/main" noGrp="1"/>
          </p:cNvSpPr>
          <p:nvPr/>
        </p:nvSpPr>
        <p:spPr>
          <a:xfrm xmlns:a="http://schemas.openxmlformats.org/drawingml/2006/main">
            <a:off x="11125200" y="2667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94A19E"/>
                </a:solidFill>
                <a:latin typeface="Menlo"/>
                <a:ea typeface="Menlo"/>
                <a:cs typeface="Menlo"/>
              </a:defRPr>
            </a:pPr>
            <a:r>
              <a:rPr sz="975" b="1">
                <a:solidFill>
                  <a:srgbClr val="94A19E"/>
                </a:solidFill>
                <a:latin typeface="Menlo"/>
                <a:ea typeface="Menlo"/>
                <a:cs typeface="Menlo"/>
              </a:rPr>
              <a:t>06</a:t>
            </a:r>
          </a:p>
        </p:txBody>
      </p:sp>
      <p:sp>
        <p:nvSpPr>
          <p:cNvPr id="3" name="">
            <a:extLst xmlns:a="http://schemas.openxmlformats.org/drawingml/2006/main">
              <a:ext uri="{FF2B5EF4-FFF2-40B4-BE49-F238E27FC236}">
                <a16:creationId xmlns:a16="http://schemas.microsoft.com/office/drawing/2014/main" id="{F5244EDF-194D-4D7C-AABE-632A20BD2B8C}"/>
              </a:ext>
            </a:extLst>
          </p:cNvPr>
          <p:cNvSpPr>
            <a:spLocks xmlns:a="http://schemas.openxmlformats.org/drawingml/2006/main" noGrp="1"/>
          </p:cNvSpPr>
          <p:nvPr/>
        </p:nvSpPr>
        <p:spPr>
          <a:xfrm xmlns:a="http://schemas.openxmlformats.org/drawingml/2006/main">
            <a:off x="533400" y="581025"/>
            <a:ext cx="111252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4" name="">
            <a:extLst xmlns:a="http://schemas.openxmlformats.org/drawingml/2006/main">
              <a:ext uri="{FF2B5EF4-FFF2-40B4-BE49-F238E27FC236}">
                <a16:creationId xmlns:a16="http://schemas.microsoft.com/office/drawing/2014/main" id="{25D714A6-C986-4C6A-AB39-41B28EF8AA04}"/>
              </a:ext>
            </a:extLst>
          </p:cNvPr>
          <p:cNvSpPr>
            <a:spLocks xmlns:a="http://schemas.openxmlformats.org/drawingml/2006/main" noGrp="1"/>
          </p:cNvSpPr>
          <p:nvPr/>
        </p:nvSpPr>
        <p:spPr>
          <a:xfrm xmlns:a="http://schemas.openxmlformats.org/drawingml/2006/main">
            <a:off x="533400" y="74295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F1F5F2"/>
                </a:solidFill>
                <a:latin typeface="Roboto"/>
                <a:ea typeface="Roboto"/>
                <a:cs typeface="Roboto"/>
              </a:defRPr>
            </a:pPr>
            <a:r>
              <a:rPr sz="2700" b="1">
                <a:solidFill>
                  <a:srgbClr val="F1F5F2"/>
                </a:solidFill>
                <a:latin typeface="Roboto"/>
                <a:ea typeface="Roboto"/>
                <a:cs typeface="Roboto"/>
              </a:rPr>
              <a:t>Current product mockup</a:t>
            </a:r>
          </a:p>
        </p:txBody>
      </p:sp>
      <p:sp>
        <p:nvSpPr>
          <p:cNvPr id="5" name="">
            <a:extLst xmlns:a="http://schemas.openxmlformats.org/drawingml/2006/main">
              <a:ext uri="{FF2B5EF4-FFF2-40B4-BE49-F238E27FC236}">
                <a16:creationId xmlns:a16="http://schemas.microsoft.com/office/drawing/2014/main" id="{5367E8B6-D05E-4CEA-9DEA-B7B2E139AF3F}"/>
              </a:ext>
            </a:extLst>
          </p:cNvPr>
          <p:cNvSpPr>
            <a:spLocks xmlns:a="http://schemas.openxmlformats.org/drawingml/2006/main" noGrp="1"/>
          </p:cNvSpPr>
          <p:nvPr/>
        </p:nvSpPr>
        <p:spPr>
          <a:xfrm xmlns:a="http://schemas.openxmlformats.org/drawingml/2006/main">
            <a:off x="685800" y="1428750"/>
            <a:ext cx="10820400" cy="4686300"/>
          </a:xfrm>
          <a:prstGeom xmlns:a="http://schemas.openxmlformats.org/drawingml/2006/main" prst="roundRect">
            <a:avLst>
              <a:gd name="adj" fmla="val 2033"/>
            </a:avLst>
          </a:prstGeom>
          <a:solidFill xmlns:a="http://schemas.openxmlformats.org/drawingml/2006/main">
            <a:srgbClr val="12191A"/>
          </a:solidFill>
          <a:ln xmlns:a="http://schemas.openxmlformats.org/drawingml/2006/main" w="19050">
            <a:solidFill>
              <a:srgbClr val="2A3637"/>
            </a:solid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03663b3191d44d8"/>
          <a:stretch xmlns:a="http://schemas.openxmlformats.org/drawingml/2006/main"/>
        </p:blipFill>
        <p:spPr>
          <a:xfrm xmlns:a="http://schemas.openxmlformats.org/drawingml/2006/main">
            <a:off x="993949" y="1504950"/>
            <a:ext cx="10204102" cy="4533900"/>
          </a:xfrm>
          <a:prstGeom xmlns:a="http://schemas.openxmlformats.org/drawingml/2006/main" prst="roundRect">
            <a:avLst>
              <a:gd name="adj" fmla="val 1681"/>
            </a:avLst>
          </a:prstGeom>
        </p:spPr>
      </p:pic>
      <p:sp>
        <p:nvSpPr>
          <p:cNvPr id="7" name="">
            <a:extLst xmlns:a="http://schemas.openxmlformats.org/drawingml/2006/main">
              <a:ext uri="{FF2B5EF4-FFF2-40B4-BE49-F238E27FC236}">
                <a16:creationId xmlns:a16="http://schemas.microsoft.com/office/drawing/2014/main" id="{88B8EC07-A8ED-4471-AA43-E8F6EA4B57F5}"/>
              </a:ext>
            </a:extLst>
          </p:cNvPr>
          <p:cNvSpPr>
            <a:spLocks xmlns:a="http://schemas.openxmlformats.org/drawingml/2006/main" noGrp="1"/>
          </p:cNvSpPr>
          <p:nvPr/>
        </p:nvSpPr>
        <p:spPr>
          <a:xfrm xmlns:a="http://schemas.openxmlformats.org/drawingml/2006/main">
            <a:off x="790575" y="619125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B6FF3B"/>
                </a:solidFill>
                <a:latin typeface="Menlo"/>
                <a:ea typeface="Menlo"/>
                <a:cs typeface="Menlo"/>
              </a:defRPr>
            </a:pPr>
            <a:r>
              <a:rPr sz="975" b="1">
                <a:solidFill>
                  <a:srgbClr val="B6FF3B"/>
                </a:solidFill>
                <a:latin typeface="Menlo"/>
                <a:ea typeface="Menlo"/>
                <a:cs typeface="Menlo"/>
              </a:rPr>
              <a:t>BOARD</a:t>
            </a:r>
          </a:p>
        </p:txBody>
      </p:sp>
      <p:sp>
        <p:nvSpPr>
          <p:cNvPr id="8" name="">
            <a:extLst xmlns:a="http://schemas.openxmlformats.org/drawingml/2006/main">
              <a:ext uri="{FF2B5EF4-FFF2-40B4-BE49-F238E27FC236}">
                <a16:creationId xmlns:a16="http://schemas.microsoft.com/office/drawing/2014/main" id="{6DAA118C-1147-4A8D-99D5-501417CE0B55}"/>
              </a:ext>
            </a:extLst>
          </p:cNvPr>
          <p:cNvSpPr>
            <a:spLocks xmlns:a="http://schemas.openxmlformats.org/drawingml/2006/main" noGrp="1"/>
          </p:cNvSpPr>
          <p:nvPr/>
        </p:nvSpPr>
        <p:spPr>
          <a:xfrm xmlns:a="http://schemas.openxmlformats.org/drawingml/2006/main">
            <a:off x="4686300" y="61912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75" b="1">
                <a:solidFill>
                  <a:srgbClr val="45DDF4"/>
                </a:solidFill>
                <a:latin typeface="Menlo"/>
                <a:ea typeface="Menlo"/>
                <a:cs typeface="Menlo"/>
              </a:defRPr>
            </a:pPr>
            <a:r>
              <a:rPr sz="975" b="1">
                <a:solidFill>
                  <a:srgbClr val="45DDF4"/>
                </a:solidFill>
                <a:latin typeface="Menlo"/>
                <a:ea typeface="Menlo"/>
                <a:cs typeface="Menlo"/>
              </a:rPr>
              <a:t>PUBLIC STATUS</a:t>
            </a:r>
          </a:p>
        </p:txBody>
      </p:sp>
      <p:sp>
        <p:nvSpPr>
          <p:cNvPr id="9" name="">
            <a:extLst xmlns:a="http://schemas.openxmlformats.org/drawingml/2006/main">
              <a:ext uri="{FF2B5EF4-FFF2-40B4-BE49-F238E27FC236}">
                <a16:creationId xmlns:a16="http://schemas.microsoft.com/office/drawing/2014/main" id="{FE2F56F4-FFD1-48F2-B5FE-CB760791CDEE}"/>
              </a:ext>
            </a:extLst>
          </p:cNvPr>
          <p:cNvSpPr>
            <a:spLocks xmlns:a="http://schemas.openxmlformats.org/drawingml/2006/main" noGrp="1"/>
          </p:cNvSpPr>
          <p:nvPr/>
        </p:nvSpPr>
        <p:spPr>
          <a:xfrm xmlns:a="http://schemas.openxmlformats.org/drawingml/2006/main">
            <a:off x="9620250" y="619125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C857"/>
                </a:solidFill>
                <a:latin typeface="Menlo"/>
                <a:ea typeface="Menlo"/>
                <a:cs typeface="Menlo"/>
              </a:defRPr>
            </a:pPr>
            <a:r>
              <a:rPr sz="975" b="1">
                <a:solidFill>
                  <a:srgbClr val="FFC857"/>
                </a:solidFill>
                <a:latin typeface="Menlo"/>
                <a:ea typeface="Menlo"/>
                <a:cs typeface="Menlo"/>
              </a:rPr>
              <a:t>PRIVATE PROGRAM</a:t>
            </a:r>
          </a:p>
        </p:txBody>
      </p:sp>
    </p:spTree>
    <p:extLst>
      <p:ext uri="{BB962C8B-B14F-4D97-AF65-F5344CB8AC3E}">
        <p14:creationId xmlns:p14="http://schemas.microsoft.com/office/powerpoint/2010/main" val="103539754"/>
      </p:ext>
    </p:extLst>
  </p:cSld>
</p:sld>
</file>

<file path=ppt/slides/slide7.xml><?xml version="1.0" encoding="utf-8"?>
<p:sld xmlns:p="http://schemas.openxmlformats.org/presentationml/2006/main">
  <p:cSld>
    <p:bg>
      <p:bgPr>
        <a:solidFill xmlns:a="http://schemas.openxmlformats.org/drawingml/2006/main">
          <a:srgbClr val="090E0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5BAA0C72-B08E-4F10-9BF6-AD4324DB700F}"/>
              </a:ext>
            </a:extLst>
          </p:cNvPr>
          <p:cNvSpPr>
            <a:spLocks xmlns:a="http://schemas.openxmlformats.org/drawingml/2006/main" noGrp="1"/>
          </p:cNvSpPr>
          <p:nvPr/>
        </p:nvSpPr>
        <p:spPr>
          <a:xfrm xmlns:a="http://schemas.openxmlformats.org/drawingml/2006/main">
            <a:off x="533400" y="2667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B6FF3B"/>
                </a:solidFill>
                <a:latin typeface="Menlo"/>
                <a:ea typeface="Menlo"/>
                <a:cs typeface="Menlo"/>
              </a:defRPr>
            </a:pPr>
            <a:r>
              <a:rPr sz="975" b="1">
                <a:solidFill>
                  <a:srgbClr val="B6FF3B"/>
                </a:solidFill>
                <a:latin typeface="Menlo"/>
                <a:ea typeface="Menlo"/>
                <a:cs typeface="Menlo"/>
              </a:rPr>
              <a:t>SYS::RR-02162</a:t>
            </a:r>
          </a:p>
        </p:txBody>
      </p:sp>
      <p:sp>
        <p:nvSpPr>
          <p:cNvPr id="2" name="">
            <a:extLst xmlns:a="http://schemas.openxmlformats.org/drawingml/2006/main">
              <a:ext uri="{FF2B5EF4-FFF2-40B4-BE49-F238E27FC236}">
                <a16:creationId xmlns:a16="http://schemas.microsoft.com/office/drawing/2014/main" id="{9C0AACD0-9D97-4DE7-ACB0-2E598ECB21FB}"/>
              </a:ext>
            </a:extLst>
          </p:cNvPr>
          <p:cNvSpPr>
            <a:spLocks xmlns:a="http://schemas.openxmlformats.org/drawingml/2006/main" noGrp="1"/>
          </p:cNvSpPr>
          <p:nvPr/>
        </p:nvSpPr>
        <p:spPr>
          <a:xfrm xmlns:a="http://schemas.openxmlformats.org/drawingml/2006/main">
            <a:off x="11125200" y="2667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94A19E"/>
                </a:solidFill>
                <a:latin typeface="Menlo"/>
                <a:ea typeface="Menlo"/>
                <a:cs typeface="Menlo"/>
              </a:defRPr>
            </a:pPr>
            <a:r>
              <a:rPr sz="975" b="1">
                <a:solidFill>
                  <a:srgbClr val="94A19E"/>
                </a:solidFill>
                <a:latin typeface="Menlo"/>
                <a:ea typeface="Menlo"/>
                <a:cs typeface="Menlo"/>
              </a:rPr>
              <a:t>07</a:t>
            </a:r>
          </a:p>
        </p:txBody>
      </p:sp>
      <p:sp>
        <p:nvSpPr>
          <p:cNvPr id="3" name="">
            <a:extLst xmlns:a="http://schemas.openxmlformats.org/drawingml/2006/main">
              <a:ext uri="{FF2B5EF4-FFF2-40B4-BE49-F238E27FC236}">
                <a16:creationId xmlns:a16="http://schemas.microsoft.com/office/drawing/2014/main" id="{259BDC1E-8CD4-482A-9210-08FCFD3F9BB4}"/>
              </a:ext>
            </a:extLst>
          </p:cNvPr>
          <p:cNvSpPr>
            <a:spLocks xmlns:a="http://schemas.openxmlformats.org/drawingml/2006/main" noGrp="1"/>
          </p:cNvSpPr>
          <p:nvPr/>
        </p:nvSpPr>
        <p:spPr>
          <a:xfrm xmlns:a="http://schemas.openxmlformats.org/drawingml/2006/main">
            <a:off x="533400" y="581025"/>
            <a:ext cx="111252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4" name="">
            <a:extLst xmlns:a="http://schemas.openxmlformats.org/drawingml/2006/main">
              <a:ext uri="{FF2B5EF4-FFF2-40B4-BE49-F238E27FC236}">
                <a16:creationId xmlns:a16="http://schemas.microsoft.com/office/drawing/2014/main" id="{B97FFE55-A459-485F-AC59-801FB76CF36D}"/>
              </a:ext>
            </a:extLst>
          </p:cNvPr>
          <p:cNvSpPr>
            <a:spLocks xmlns:a="http://schemas.openxmlformats.org/drawingml/2006/main" noGrp="1"/>
          </p:cNvSpPr>
          <p:nvPr/>
        </p:nvSpPr>
        <p:spPr>
          <a:xfrm xmlns:a="http://schemas.openxmlformats.org/drawingml/2006/main">
            <a:off x="533400" y="74295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F1F5F2"/>
                </a:solidFill>
                <a:latin typeface="Roboto"/>
                <a:ea typeface="Roboto"/>
                <a:cs typeface="Roboto"/>
              </a:defRPr>
            </a:pPr>
            <a:r>
              <a:rPr sz="2700" b="1">
                <a:solidFill>
                  <a:srgbClr val="F1F5F2"/>
                </a:solidFill>
                <a:latin typeface="Roboto"/>
                <a:ea typeface="Roboto"/>
                <a:cs typeface="Roboto"/>
              </a:rPr>
              <a:t>Release 1 scope</a:t>
            </a:r>
          </a:p>
        </p:txBody>
      </p:sp>
      <p:sp>
        <p:nvSpPr>
          <p:cNvPr id="5" name="">
            <a:extLst xmlns:a="http://schemas.openxmlformats.org/drawingml/2006/main">
              <a:ext uri="{FF2B5EF4-FFF2-40B4-BE49-F238E27FC236}">
                <a16:creationId xmlns:a16="http://schemas.microsoft.com/office/drawing/2014/main" id="{281E6795-3ABF-4582-9E01-5F0FDF6DAD94}"/>
              </a:ext>
            </a:extLst>
          </p:cNvPr>
          <p:cNvSpPr>
            <a:spLocks xmlns:a="http://schemas.openxmlformats.org/drawingml/2006/main" noGrp="1"/>
          </p:cNvSpPr>
          <p:nvPr/>
        </p:nvSpPr>
        <p:spPr>
          <a:xfrm xmlns:a="http://schemas.openxmlformats.org/drawingml/2006/main">
            <a:off x="533400" y="150495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B6FF3B"/>
                </a:solidFill>
                <a:latin typeface="Menlo"/>
                <a:ea typeface="Menlo"/>
                <a:cs typeface="Menlo"/>
              </a:defRPr>
            </a:pPr>
            <a:r>
              <a:rPr sz="1500" b="1">
                <a:solidFill>
                  <a:srgbClr val="B6FF3B"/>
                </a:solidFill>
                <a:latin typeface="Menlo"/>
                <a:ea typeface="Menlo"/>
                <a:cs typeface="Menlo"/>
              </a:rPr>
              <a:t>RELEASE 1</a:t>
            </a:r>
          </a:p>
        </p:txBody>
      </p:sp>
      <p:sp>
        <p:nvSpPr>
          <p:cNvPr id="6" name="">
            <a:extLst xmlns:a="http://schemas.openxmlformats.org/drawingml/2006/main">
              <a:ext uri="{FF2B5EF4-FFF2-40B4-BE49-F238E27FC236}">
                <a16:creationId xmlns:a16="http://schemas.microsoft.com/office/drawing/2014/main" id="{27C2BDF0-EE8C-4B7B-AF34-AEA859612602}"/>
              </a:ext>
            </a:extLst>
          </p:cNvPr>
          <p:cNvSpPr>
            <a:spLocks xmlns:a="http://schemas.openxmlformats.org/drawingml/2006/main" noGrp="1"/>
          </p:cNvSpPr>
          <p:nvPr/>
        </p:nvSpPr>
        <p:spPr>
          <a:xfrm xmlns:a="http://schemas.openxmlformats.org/drawingml/2006/main">
            <a:off x="6705600" y="150495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94A19E"/>
                </a:solidFill>
                <a:latin typeface="Menlo"/>
                <a:ea typeface="Menlo"/>
                <a:cs typeface="Menlo"/>
              </a:defRPr>
            </a:pPr>
            <a:r>
              <a:rPr sz="1500" b="1">
                <a:solidFill>
                  <a:srgbClr val="94A19E"/>
                </a:solidFill>
                <a:latin typeface="Menlo"/>
                <a:ea typeface="Menlo"/>
                <a:cs typeface="Menlo"/>
              </a:rPr>
              <a:t>FUTURE OPTIONS</a:t>
            </a:r>
          </a:p>
        </p:txBody>
      </p:sp>
      <p:sp>
        <p:nvSpPr>
          <p:cNvPr id="7" name="">
            <a:extLst xmlns:a="http://schemas.openxmlformats.org/drawingml/2006/main">
              <a:ext uri="{FF2B5EF4-FFF2-40B4-BE49-F238E27FC236}">
                <a16:creationId xmlns:a16="http://schemas.microsoft.com/office/drawing/2014/main" id="{64749C81-DFC3-48CC-B30A-EBA8A37D4C53}"/>
              </a:ext>
            </a:extLst>
          </p:cNvPr>
          <p:cNvSpPr>
            <a:spLocks xmlns:a="http://schemas.openxmlformats.org/drawingml/2006/main" noGrp="1"/>
          </p:cNvSpPr>
          <p:nvPr/>
        </p:nvSpPr>
        <p:spPr>
          <a:xfrm xmlns:a="http://schemas.openxmlformats.org/drawingml/2006/main">
            <a:off x="533400" y="2038350"/>
            <a:ext cx="4953000" cy="95"/>
          </a:xfrm>
          <a:prstGeom xmlns:a="http://schemas.openxmlformats.org/drawingml/2006/main" prst="line">
            <a:avLst/>
          </a:prstGeom>
          <a:noFill xmlns:a="http://schemas.openxmlformats.org/drawingml/2006/main"/>
          <a:ln xmlns:a="http://schemas.openxmlformats.org/drawingml/2006/main" w="38100">
            <a:solidFill>
              <a:srgbClr val="B6FF3B"/>
            </a:solidFill>
          </a:ln>
        </p:spPr>
      </p:sp>
      <p:sp>
        <p:nvSpPr>
          <p:cNvPr id="8" name="">
            <a:extLst xmlns:a="http://schemas.openxmlformats.org/drawingml/2006/main">
              <a:ext uri="{FF2B5EF4-FFF2-40B4-BE49-F238E27FC236}">
                <a16:creationId xmlns:a16="http://schemas.microsoft.com/office/drawing/2014/main" id="{8C95B08F-9A30-43FB-A168-C9D091F86686}"/>
              </a:ext>
            </a:extLst>
          </p:cNvPr>
          <p:cNvSpPr>
            <a:spLocks xmlns:a="http://schemas.openxmlformats.org/drawingml/2006/main" noGrp="1"/>
          </p:cNvSpPr>
          <p:nvPr/>
        </p:nvSpPr>
        <p:spPr>
          <a:xfrm xmlns:a="http://schemas.openxmlformats.org/drawingml/2006/main">
            <a:off x="6705600" y="2038350"/>
            <a:ext cx="4953000" cy="95"/>
          </a:xfrm>
          <a:prstGeom xmlns:a="http://schemas.openxmlformats.org/drawingml/2006/main" prst="line">
            <a:avLst/>
          </a:prstGeom>
          <a:noFill xmlns:a="http://schemas.openxmlformats.org/drawingml/2006/main"/>
          <a:ln xmlns:a="http://schemas.openxmlformats.org/drawingml/2006/main" w="38100">
            <a:solidFill>
              <a:srgbClr val="2A3637"/>
            </a:solidFill>
          </a:ln>
        </p:spPr>
      </p:sp>
      <p:sp>
        <p:nvSpPr>
          <p:cNvPr id="9" name="">
            <a:extLst xmlns:a="http://schemas.openxmlformats.org/drawingml/2006/main">
              <a:ext uri="{FF2B5EF4-FFF2-40B4-BE49-F238E27FC236}">
                <a16:creationId xmlns:a16="http://schemas.microsoft.com/office/drawing/2014/main" id="{45E0FCFB-F3F8-4311-82C2-5F325DFABD4A}"/>
              </a:ext>
            </a:extLst>
          </p:cNvPr>
          <p:cNvSpPr>
            <a:spLocks xmlns:a="http://schemas.openxmlformats.org/drawingml/2006/main" noGrp="1"/>
          </p:cNvSpPr>
          <p:nvPr/>
        </p:nvSpPr>
        <p:spPr>
          <a:xfrm xmlns:a="http://schemas.openxmlformats.org/drawingml/2006/main">
            <a:off x="533400" y="23622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B6FF3B"/>
                </a:solidFill>
                <a:latin typeface="Menlo"/>
                <a:ea typeface="Menlo"/>
                <a:cs typeface="Menlo"/>
              </a:defRPr>
            </a:pPr>
            <a:r>
              <a:rPr sz="1200" b="1">
                <a:solidFill>
                  <a:srgbClr val="B6FF3B"/>
                </a:solidFill>
                <a:latin typeface="Menlo"/>
                <a:ea typeface="Menlo"/>
                <a:cs typeface="Menlo"/>
              </a:rPr>
              <a:t>01</a:t>
            </a:r>
          </a:p>
        </p:txBody>
      </p:sp>
      <p:sp>
        <p:nvSpPr>
          <p:cNvPr id="10" name="">
            <a:extLst xmlns:a="http://schemas.openxmlformats.org/drawingml/2006/main">
              <a:ext uri="{FF2B5EF4-FFF2-40B4-BE49-F238E27FC236}">
                <a16:creationId xmlns:a16="http://schemas.microsoft.com/office/drawing/2014/main" id="{6D696053-1D88-42F0-95BB-71D6987B87EB}"/>
              </a:ext>
            </a:extLst>
          </p:cNvPr>
          <p:cNvSpPr>
            <a:spLocks xmlns:a="http://schemas.openxmlformats.org/drawingml/2006/main" noGrp="1"/>
          </p:cNvSpPr>
          <p:nvPr/>
        </p:nvSpPr>
        <p:spPr>
          <a:xfrm xmlns:a="http://schemas.openxmlformats.org/drawingml/2006/main">
            <a:off x="1143000" y="2333625"/>
            <a:ext cx="4343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1F5F2"/>
                </a:solidFill>
                <a:latin typeface="Roboto"/>
                <a:ea typeface="Roboto"/>
                <a:cs typeface="Roboto"/>
              </a:defRPr>
            </a:pPr>
            <a:r>
              <a:rPr sz="1650" b="1">
                <a:solidFill>
                  <a:srgbClr val="F1F5F2"/>
                </a:solidFill>
                <a:latin typeface="Roboto"/>
                <a:ea typeface="Roboto"/>
                <a:cs typeface="Roboto"/>
              </a:rPr>
              <a:t>Visible shared game state</a:t>
            </a:r>
          </a:p>
        </p:txBody>
      </p:sp>
      <p:sp>
        <p:nvSpPr>
          <p:cNvPr id="11" name="">
            <a:extLst xmlns:a="http://schemas.openxmlformats.org/drawingml/2006/main">
              <a:ext uri="{FF2B5EF4-FFF2-40B4-BE49-F238E27FC236}">
                <a16:creationId xmlns:a16="http://schemas.microsoft.com/office/drawing/2014/main" id="{1D4AA4E2-2EFF-4F76-808D-74387CF1177D}"/>
              </a:ext>
            </a:extLst>
          </p:cNvPr>
          <p:cNvSpPr>
            <a:spLocks xmlns:a="http://schemas.openxmlformats.org/drawingml/2006/main" noGrp="1"/>
          </p:cNvSpPr>
          <p:nvPr/>
        </p:nvSpPr>
        <p:spPr>
          <a:xfrm xmlns:a="http://schemas.openxmlformats.org/drawingml/2006/main">
            <a:off x="533400" y="30099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B6FF3B"/>
                </a:solidFill>
                <a:latin typeface="Menlo"/>
                <a:ea typeface="Menlo"/>
                <a:cs typeface="Menlo"/>
              </a:defRPr>
            </a:pPr>
            <a:r>
              <a:rPr sz="1200" b="1">
                <a:solidFill>
                  <a:srgbClr val="B6FF3B"/>
                </a:solidFill>
                <a:latin typeface="Menlo"/>
                <a:ea typeface="Menlo"/>
                <a:cs typeface="Menlo"/>
              </a:rPr>
              <a:t>02</a:t>
            </a:r>
          </a:p>
        </p:txBody>
      </p:sp>
      <p:sp>
        <p:nvSpPr>
          <p:cNvPr id="12" name="">
            <a:extLst xmlns:a="http://schemas.openxmlformats.org/drawingml/2006/main">
              <a:ext uri="{FF2B5EF4-FFF2-40B4-BE49-F238E27FC236}">
                <a16:creationId xmlns:a16="http://schemas.microsoft.com/office/drawing/2014/main" id="{0478770C-5E99-473A-8D7E-26A80575A790}"/>
              </a:ext>
            </a:extLst>
          </p:cNvPr>
          <p:cNvSpPr>
            <a:spLocks xmlns:a="http://schemas.openxmlformats.org/drawingml/2006/main" noGrp="1"/>
          </p:cNvSpPr>
          <p:nvPr/>
        </p:nvSpPr>
        <p:spPr>
          <a:xfrm xmlns:a="http://schemas.openxmlformats.org/drawingml/2006/main">
            <a:off x="1143000" y="2981325"/>
            <a:ext cx="4343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1F5F2"/>
                </a:solidFill>
                <a:latin typeface="Roboto"/>
                <a:ea typeface="Roboto"/>
                <a:cs typeface="Roboto"/>
              </a:defRPr>
            </a:pPr>
            <a:r>
              <a:rPr sz="1650" b="1">
                <a:solidFill>
                  <a:srgbClr val="F1F5F2"/>
                </a:solidFill>
                <a:latin typeface="Roboto"/>
                <a:ea typeface="Roboto"/>
                <a:cs typeface="Roboto"/>
              </a:rPr>
              <a:t>Private card programming</a:t>
            </a:r>
          </a:p>
        </p:txBody>
      </p:sp>
      <p:sp>
        <p:nvSpPr>
          <p:cNvPr id="13" name="">
            <a:extLst xmlns:a="http://schemas.openxmlformats.org/drawingml/2006/main">
              <a:ext uri="{FF2B5EF4-FFF2-40B4-BE49-F238E27FC236}">
                <a16:creationId xmlns:a16="http://schemas.microsoft.com/office/drawing/2014/main" id="{652E8A27-0C69-4919-AA1E-E4EE8CDA38A6}"/>
              </a:ext>
            </a:extLst>
          </p:cNvPr>
          <p:cNvSpPr>
            <a:spLocks xmlns:a="http://schemas.openxmlformats.org/drawingml/2006/main" noGrp="1"/>
          </p:cNvSpPr>
          <p:nvPr/>
        </p:nvSpPr>
        <p:spPr>
          <a:xfrm xmlns:a="http://schemas.openxmlformats.org/drawingml/2006/main">
            <a:off x="533400" y="36576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B6FF3B"/>
                </a:solidFill>
                <a:latin typeface="Menlo"/>
                <a:ea typeface="Menlo"/>
                <a:cs typeface="Menlo"/>
              </a:defRPr>
            </a:pPr>
            <a:r>
              <a:rPr sz="1200" b="1">
                <a:solidFill>
                  <a:srgbClr val="B6FF3B"/>
                </a:solidFill>
                <a:latin typeface="Menlo"/>
                <a:ea typeface="Menlo"/>
                <a:cs typeface="Menlo"/>
              </a:rPr>
              <a:t>03</a:t>
            </a:r>
          </a:p>
        </p:txBody>
      </p:sp>
      <p:sp>
        <p:nvSpPr>
          <p:cNvPr id="14" name="">
            <a:extLst xmlns:a="http://schemas.openxmlformats.org/drawingml/2006/main">
              <a:ext uri="{FF2B5EF4-FFF2-40B4-BE49-F238E27FC236}">
                <a16:creationId xmlns:a16="http://schemas.microsoft.com/office/drawing/2014/main" id="{515B661A-1672-45E0-B093-AF34C3D38121}"/>
              </a:ext>
            </a:extLst>
          </p:cNvPr>
          <p:cNvSpPr>
            <a:spLocks xmlns:a="http://schemas.openxmlformats.org/drawingml/2006/main" noGrp="1"/>
          </p:cNvSpPr>
          <p:nvPr/>
        </p:nvSpPr>
        <p:spPr>
          <a:xfrm xmlns:a="http://schemas.openxmlformats.org/drawingml/2006/main">
            <a:off x="1143000" y="3629025"/>
            <a:ext cx="4343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1F5F2"/>
                </a:solidFill>
                <a:latin typeface="Roboto"/>
                <a:ea typeface="Roboto"/>
                <a:cs typeface="Roboto"/>
              </a:defRPr>
            </a:pPr>
            <a:r>
              <a:rPr sz="1650" b="1">
                <a:solidFill>
                  <a:srgbClr val="F1F5F2"/>
                </a:solidFill>
                <a:latin typeface="Roboto"/>
                <a:ea typeface="Roboto"/>
                <a:cs typeface="Roboto"/>
              </a:rPr>
              <a:t>Automatic execution</a:t>
            </a:r>
          </a:p>
        </p:txBody>
      </p:sp>
      <p:sp>
        <p:nvSpPr>
          <p:cNvPr id="15" name="">
            <a:extLst xmlns:a="http://schemas.openxmlformats.org/drawingml/2006/main">
              <a:ext uri="{FF2B5EF4-FFF2-40B4-BE49-F238E27FC236}">
                <a16:creationId xmlns:a16="http://schemas.microsoft.com/office/drawing/2014/main" id="{A8C12DA3-F338-4698-B81E-052D47271C22}"/>
              </a:ext>
            </a:extLst>
          </p:cNvPr>
          <p:cNvSpPr>
            <a:spLocks xmlns:a="http://schemas.openxmlformats.org/drawingml/2006/main" noGrp="1"/>
          </p:cNvSpPr>
          <p:nvPr/>
        </p:nvSpPr>
        <p:spPr>
          <a:xfrm xmlns:a="http://schemas.openxmlformats.org/drawingml/2006/main">
            <a:off x="533400" y="43053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B6FF3B"/>
                </a:solidFill>
                <a:latin typeface="Menlo"/>
                <a:ea typeface="Menlo"/>
                <a:cs typeface="Menlo"/>
              </a:defRPr>
            </a:pPr>
            <a:r>
              <a:rPr sz="1200" b="1">
                <a:solidFill>
                  <a:srgbClr val="B6FF3B"/>
                </a:solidFill>
                <a:latin typeface="Menlo"/>
                <a:ea typeface="Menlo"/>
                <a:cs typeface="Menlo"/>
              </a:rPr>
              <a:t>04</a:t>
            </a:r>
          </a:p>
        </p:txBody>
      </p:sp>
      <p:sp>
        <p:nvSpPr>
          <p:cNvPr id="16" name="">
            <a:extLst xmlns:a="http://schemas.openxmlformats.org/drawingml/2006/main">
              <a:ext uri="{FF2B5EF4-FFF2-40B4-BE49-F238E27FC236}">
                <a16:creationId xmlns:a16="http://schemas.microsoft.com/office/drawing/2014/main" id="{3AC8752B-49F2-46E8-827C-AB707FDC3F65}"/>
              </a:ext>
            </a:extLst>
          </p:cNvPr>
          <p:cNvSpPr>
            <a:spLocks xmlns:a="http://schemas.openxmlformats.org/drawingml/2006/main" noGrp="1"/>
          </p:cNvSpPr>
          <p:nvPr/>
        </p:nvSpPr>
        <p:spPr>
          <a:xfrm xmlns:a="http://schemas.openxmlformats.org/drawingml/2006/main">
            <a:off x="1143000" y="4276725"/>
            <a:ext cx="4343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1F5F2"/>
                </a:solidFill>
                <a:latin typeface="Roboto"/>
                <a:ea typeface="Roboto"/>
                <a:cs typeface="Roboto"/>
              </a:defRPr>
            </a:pPr>
            <a:r>
              <a:rPr sz="1650" b="1">
                <a:solidFill>
                  <a:srgbClr val="F1F5F2"/>
                </a:solidFill>
                <a:latin typeface="Roboto"/>
                <a:ea typeface="Roboto"/>
                <a:cs typeface="Roboto"/>
              </a:rPr>
              <a:t>Board element effects</a:t>
            </a:r>
          </a:p>
        </p:txBody>
      </p:sp>
      <p:sp>
        <p:nvSpPr>
          <p:cNvPr id="17" name="">
            <a:extLst xmlns:a="http://schemas.openxmlformats.org/drawingml/2006/main">
              <a:ext uri="{FF2B5EF4-FFF2-40B4-BE49-F238E27FC236}">
                <a16:creationId xmlns:a16="http://schemas.microsoft.com/office/drawing/2014/main" id="{F7774DFC-8009-4019-A963-6B6F9CA87ADC}"/>
              </a:ext>
            </a:extLst>
          </p:cNvPr>
          <p:cNvSpPr>
            <a:spLocks xmlns:a="http://schemas.openxmlformats.org/drawingml/2006/main" noGrp="1"/>
          </p:cNvSpPr>
          <p:nvPr/>
        </p:nvSpPr>
        <p:spPr>
          <a:xfrm xmlns:a="http://schemas.openxmlformats.org/drawingml/2006/main">
            <a:off x="533400" y="49530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B6FF3B"/>
                </a:solidFill>
                <a:latin typeface="Menlo"/>
                <a:ea typeface="Menlo"/>
                <a:cs typeface="Menlo"/>
              </a:defRPr>
            </a:pPr>
            <a:r>
              <a:rPr sz="1200" b="1">
                <a:solidFill>
                  <a:srgbClr val="B6FF3B"/>
                </a:solidFill>
                <a:latin typeface="Menlo"/>
                <a:ea typeface="Menlo"/>
                <a:cs typeface="Menlo"/>
              </a:rPr>
              <a:t>05</a:t>
            </a:r>
          </a:p>
        </p:txBody>
      </p:sp>
      <p:sp>
        <p:nvSpPr>
          <p:cNvPr id="18" name="">
            <a:extLst xmlns:a="http://schemas.openxmlformats.org/drawingml/2006/main">
              <a:ext uri="{FF2B5EF4-FFF2-40B4-BE49-F238E27FC236}">
                <a16:creationId xmlns:a16="http://schemas.microsoft.com/office/drawing/2014/main" id="{56A7147E-6F3E-43F2-B67F-A7951947E977}"/>
              </a:ext>
            </a:extLst>
          </p:cNvPr>
          <p:cNvSpPr>
            <a:spLocks xmlns:a="http://schemas.openxmlformats.org/drawingml/2006/main" noGrp="1"/>
          </p:cNvSpPr>
          <p:nvPr/>
        </p:nvSpPr>
        <p:spPr>
          <a:xfrm xmlns:a="http://schemas.openxmlformats.org/drawingml/2006/main">
            <a:off x="1143000" y="4924425"/>
            <a:ext cx="4343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1F5F2"/>
                </a:solidFill>
                <a:latin typeface="Roboto"/>
                <a:ea typeface="Roboto"/>
                <a:cs typeface="Roboto"/>
              </a:defRPr>
            </a:pPr>
            <a:r>
              <a:rPr sz="1650" b="1">
                <a:solidFill>
                  <a:srgbClr val="F1F5F2"/>
                </a:solidFill>
                <a:latin typeface="Roboto"/>
                <a:ea typeface="Roboto"/>
                <a:cs typeface="Roboto"/>
              </a:rPr>
              <a:t>Synchronized result</a:t>
            </a:r>
          </a:p>
        </p:txBody>
      </p:sp>
      <p:sp>
        <p:nvSpPr>
          <p:cNvPr id="19" name="">
            <a:extLst xmlns:a="http://schemas.openxmlformats.org/drawingml/2006/main">
              <a:ext uri="{FF2B5EF4-FFF2-40B4-BE49-F238E27FC236}">
                <a16:creationId xmlns:a16="http://schemas.microsoft.com/office/drawing/2014/main" id="{B1D0B8D7-9DD9-4C83-AB20-6D26577DD229}"/>
              </a:ext>
            </a:extLst>
          </p:cNvPr>
          <p:cNvSpPr>
            <a:spLocks xmlns:a="http://schemas.openxmlformats.org/drawingml/2006/main" noGrp="1"/>
          </p:cNvSpPr>
          <p:nvPr/>
        </p:nvSpPr>
        <p:spPr>
          <a:xfrm xmlns:a="http://schemas.openxmlformats.org/drawingml/2006/main">
            <a:off x="6705600" y="23622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94A19E"/>
                </a:solidFill>
                <a:latin typeface="Menlo"/>
                <a:ea typeface="Menlo"/>
                <a:cs typeface="Menlo"/>
              </a:defRPr>
            </a:pPr>
            <a:r>
              <a:rPr sz="1200" b="1">
                <a:solidFill>
                  <a:srgbClr val="94A19E"/>
                </a:solidFill>
                <a:latin typeface="Menlo"/>
                <a:ea typeface="Menlo"/>
                <a:cs typeface="Menlo"/>
              </a:rPr>
              <a:t>01</a:t>
            </a:r>
          </a:p>
        </p:txBody>
      </p:sp>
      <p:sp>
        <p:nvSpPr>
          <p:cNvPr id="20" name="">
            <a:extLst xmlns:a="http://schemas.openxmlformats.org/drawingml/2006/main">
              <a:ext uri="{FF2B5EF4-FFF2-40B4-BE49-F238E27FC236}">
                <a16:creationId xmlns:a16="http://schemas.microsoft.com/office/drawing/2014/main" id="{53ACF54C-5FD5-4724-9C37-E7F35535CE9A}"/>
              </a:ext>
            </a:extLst>
          </p:cNvPr>
          <p:cNvSpPr>
            <a:spLocks xmlns:a="http://schemas.openxmlformats.org/drawingml/2006/main" noGrp="1"/>
          </p:cNvSpPr>
          <p:nvPr/>
        </p:nvSpPr>
        <p:spPr>
          <a:xfrm xmlns:a="http://schemas.openxmlformats.org/drawingml/2006/main">
            <a:off x="7315200" y="2333625"/>
            <a:ext cx="4343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94A19E"/>
                </a:solidFill>
                <a:latin typeface="Roboto"/>
                <a:ea typeface="Roboto"/>
                <a:cs typeface="Roboto"/>
              </a:defRPr>
            </a:pPr>
            <a:r>
              <a:rPr sz="1650" b="1">
                <a:solidFill>
                  <a:srgbClr val="94A19E"/>
                </a:solidFill>
                <a:latin typeface="Roboto"/>
                <a:ea typeface="Roboto"/>
                <a:cs typeface="Roboto"/>
              </a:rPr>
              <a:t>Different robot types</a:t>
            </a:r>
          </a:p>
        </p:txBody>
      </p:sp>
      <p:sp>
        <p:nvSpPr>
          <p:cNvPr id="21" name="">
            <a:extLst xmlns:a="http://schemas.openxmlformats.org/drawingml/2006/main">
              <a:ext uri="{FF2B5EF4-FFF2-40B4-BE49-F238E27FC236}">
                <a16:creationId xmlns:a16="http://schemas.microsoft.com/office/drawing/2014/main" id="{CF5F4134-BF2A-4050-9FF4-4EC5A1F01C16}"/>
              </a:ext>
            </a:extLst>
          </p:cNvPr>
          <p:cNvSpPr>
            <a:spLocks xmlns:a="http://schemas.openxmlformats.org/drawingml/2006/main" noGrp="1"/>
          </p:cNvSpPr>
          <p:nvPr/>
        </p:nvSpPr>
        <p:spPr>
          <a:xfrm xmlns:a="http://schemas.openxmlformats.org/drawingml/2006/main">
            <a:off x="6705600" y="30099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94A19E"/>
                </a:solidFill>
                <a:latin typeface="Menlo"/>
                <a:ea typeface="Menlo"/>
                <a:cs typeface="Menlo"/>
              </a:defRPr>
            </a:pPr>
            <a:r>
              <a:rPr sz="1200" b="1">
                <a:solidFill>
                  <a:srgbClr val="94A19E"/>
                </a:solidFill>
                <a:latin typeface="Menlo"/>
                <a:ea typeface="Menlo"/>
                <a:cs typeface="Menlo"/>
              </a:rPr>
              <a:t>02</a:t>
            </a:r>
          </a:p>
        </p:txBody>
      </p:sp>
      <p:sp>
        <p:nvSpPr>
          <p:cNvPr id="22" name="">
            <a:extLst xmlns:a="http://schemas.openxmlformats.org/drawingml/2006/main">
              <a:ext uri="{FF2B5EF4-FFF2-40B4-BE49-F238E27FC236}">
                <a16:creationId xmlns:a16="http://schemas.microsoft.com/office/drawing/2014/main" id="{6F696E3B-DC44-4984-A349-4AA0DF29F98F}"/>
              </a:ext>
            </a:extLst>
          </p:cNvPr>
          <p:cNvSpPr>
            <a:spLocks xmlns:a="http://schemas.openxmlformats.org/drawingml/2006/main" noGrp="1"/>
          </p:cNvSpPr>
          <p:nvPr/>
        </p:nvSpPr>
        <p:spPr>
          <a:xfrm xmlns:a="http://schemas.openxmlformats.org/drawingml/2006/main">
            <a:off x="7315200" y="2981325"/>
            <a:ext cx="4343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94A19E"/>
                </a:solidFill>
                <a:latin typeface="Roboto"/>
                <a:ea typeface="Roboto"/>
                <a:cs typeface="Roboto"/>
              </a:defRPr>
            </a:pPr>
            <a:r>
              <a:rPr sz="1650" b="1">
                <a:solidFill>
                  <a:srgbClr val="94A19E"/>
                </a:solidFill>
                <a:latin typeface="Roboto"/>
                <a:ea typeface="Roboto"/>
                <a:cs typeface="Roboto"/>
              </a:rPr>
              <a:t>Custom programming decks</a:t>
            </a:r>
          </a:p>
        </p:txBody>
      </p:sp>
      <p:sp>
        <p:nvSpPr>
          <p:cNvPr id="23" name="">
            <a:extLst xmlns:a="http://schemas.openxmlformats.org/drawingml/2006/main">
              <a:ext uri="{FF2B5EF4-FFF2-40B4-BE49-F238E27FC236}">
                <a16:creationId xmlns:a16="http://schemas.microsoft.com/office/drawing/2014/main" id="{12700947-98A6-4575-B036-E6B34BB13FD1}"/>
              </a:ext>
            </a:extLst>
          </p:cNvPr>
          <p:cNvSpPr>
            <a:spLocks xmlns:a="http://schemas.openxmlformats.org/drawingml/2006/main" noGrp="1"/>
          </p:cNvSpPr>
          <p:nvPr/>
        </p:nvSpPr>
        <p:spPr>
          <a:xfrm xmlns:a="http://schemas.openxmlformats.org/drawingml/2006/main">
            <a:off x="6705600" y="36576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94A19E"/>
                </a:solidFill>
                <a:latin typeface="Menlo"/>
                <a:ea typeface="Menlo"/>
                <a:cs typeface="Menlo"/>
              </a:defRPr>
            </a:pPr>
            <a:r>
              <a:rPr sz="1200" b="1">
                <a:solidFill>
                  <a:srgbClr val="94A19E"/>
                </a:solidFill>
                <a:latin typeface="Menlo"/>
                <a:ea typeface="Menlo"/>
                <a:cs typeface="Menlo"/>
              </a:rPr>
              <a:t>03</a:t>
            </a:r>
          </a:p>
        </p:txBody>
      </p:sp>
      <p:sp>
        <p:nvSpPr>
          <p:cNvPr id="24" name="">
            <a:extLst xmlns:a="http://schemas.openxmlformats.org/drawingml/2006/main">
              <a:ext uri="{FF2B5EF4-FFF2-40B4-BE49-F238E27FC236}">
                <a16:creationId xmlns:a16="http://schemas.microsoft.com/office/drawing/2014/main" id="{06B25CB9-8DF7-49B6-9AF8-EC9040B3B326}"/>
              </a:ext>
            </a:extLst>
          </p:cNvPr>
          <p:cNvSpPr>
            <a:spLocks xmlns:a="http://schemas.openxmlformats.org/drawingml/2006/main" noGrp="1"/>
          </p:cNvSpPr>
          <p:nvPr/>
        </p:nvSpPr>
        <p:spPr>
          <a:xfrm xmlns:a="http://schemas.openxmlformats.org/drawingml/2006/main">
            <a:off x="7315200" y="3629025"/>
            <a:ext cx="4343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94A19E"/>
                </a:solidFill>
                <a:latin typeface="Roboto"/>
                <a:ea typeface="Roboto"/>
                <a:cs typeface="Roboto"/>
              </a:defRPr>
            </a:pPr>
            <a:r>
              <a:rPr sz="1650" b="1">
                <a:solidFill>
                  <a:srgbClr val="94A19E"/>
                </a:solidFill>
                <a:latin typeface="Roboto"/>
                <a:ea typeface="Roboto"/>
                <a:cs typeface="Roboto"/>
              </a:rPr>
              <a:t>Adaptive or changing boards</a:t>
            </a:r>
          </a:p>
        </p:txBody>
      </p:sp>
      <p:sp>
        <p:nvSpPr>
          <p:cNvPr id="25" name="">
            <a:extLst xmlns:a="http://schemas.openxmlformats.org/drawingml/2006/main">
              <a:ext uri="{FF2B5EF4-FFF2-40B4-BE49-F238E27FC236}">
                <a16:creationId xmlns:a16="http://schemas.microsoft.com/office/drawing/2014/main" id="{F6B7CD27-A86C-4810-868C-B64390AA8057}"/>
              </a:ext>
            </a:extLst>
          </p:cNvPr>
          <p:cNvSpPr>
            <a:spLocks xmlns:a="http://schemas.openxmlformats.org/drawingml/2006/main" noGrp="1"/>
          </p:cNvSpPr>
          <p:nvPr/>
        </p:nvSpPr>
        <p:spPr>
          <a:xfrm xmlns:a="http://schemas.openxmlformats.org/drawingml/2006/main">
            <a:off x="6705600" y="43053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94A19E"/>
                </a:solidFill>
                <a:latin typeface="Menlo"/>
                <a:ea typeface="Menlo"/>
                <a:cs typeface="Menlo"/>
              </a:defRPr>
            </a:pPr>
            <a:r>
              <a:rPr sz="1200" b="1">
                <a:solidFill>
                  <a:srgbClr val="94A19E"/>
                </a:solidFill>
                <a:latin typeface="Menlo"/>
                <a:ea typeface="Menlo"/>
                <a:cs typeface="Menlo"/>
              </a:rPr>
              <a:t>04</a:t>
            </a:r>
          </a:p>
        </p:txBody>
      </p:sp>
      <p:sp>
        <p:nvSpPr>
          <p:cNvPr id="26" name="">
            <a:extLst xmlns:a="http://schemas.openxmlformats.org/drawingml/2006/main">
              <a:ext uri="{FF2B5EF4-FFF2-40B4-BE49-F238E27FC236}">
                <a16:creationId xmlns:a16="http://schemas.microsoft.com/office/drawing/2014/main" id="{F4EBC4A9-9448-49FE-87A4-555799C1CF49}"/>
              </a:ext>
            </a:extLst>
          </p:cNvPr>
          <p:cNvSpPr>
            <a:spLocks xmlns:a="http://schemas.openxmlformats.org/drawingml/2006/main" noGrp="1"/>
          </p:cNvSpPr>
          <p:nvPr/>
        </p:nvSpPr>
        <p:spPr>
          <a:xfrm xmlns:a="http://schemas.openxmlformats.org/drawingml/2006/main">
            <a:off x="7315200" y="4276725"/>
            <a:ext cx="4343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94A19E"/>
                </a:solidFill>
                <a:latin typeface="Roboto"/>
                <a:ea typeface="Roboto"/>
                <a:cs typeface="Roboto"/>
              </a:defRPr>
            </a:pPr>
            <a:r>
              <a:rPr sz="1650" b="1">
                <a:solidFill>
                  <a:srgbClr val="94A19E"/>
                </a:solidFill>
                <a:latin typeface="Roboto"/>
                <a:ea typeface="Roboto"/>
                <a:cs typeface="Roboto"/>
              </a:rPr>
              <a:t>Cosmetics and progression</a:t>
            </a:r>
          </a:p>
        </p:txBody>
      </p:sp>
      <p:sp>
        <p:nvSpPr>
          <p:cNvPr id="27" name="">
            <a:extLst xmlns:a="http://schemas.openxmlformats.org/drawingml/2006/main">
              <a:ext uri="{FF2B5EF4-FFF2-40B4-BE49-F238E27FC236}">
                <a16:creationId xmlns:a16="http://schemas.microsoft.com/office/drawing/2014/main" id="{BE97FE44-312C-4ADF-903E-04210750EEA9}"/>
              </a:ext>
            </a:extLst>
          </p:cNvPr>
          <p:cNvSpPr>
            <a:spLocks xmlns:a="http://schemas.openxmlformats.org/drawingml/2006/main" noGrp="1"/>
          </p:cNvSpPr>
          <p:nvPr/>
        </p:nvSpPr>
        <p:spPr>
          <a:xfrm xmlns:a="http://schemas.openxmlformats.org/drawingml/2006/main">
            <a:off x="6705600" y="533400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FFC857"/>
                </a:solidFill>
                <a:latin typeface="Roboto"/>
                <a:ea typeface="Roboto"/>
                <a:cs typeface="Roboto"/>
              </a:defRPr>
            </a:pPr>
            <a:r>
              <a:rPr sz="2100" b="1">
                <a:solidFill>
                  <a:srgbClr val="FFC857"/>
                </a:solidFill>
                <a:latin typeface="Roboto"/>
                <a:ea typeface="Roboto"/>
                <a:cs typeface="Roboto"/>
              </a:rPr>
              <a:t>First prove the shared game loop.</a:t>
            </a:r>
          </a:p>
        </p:txBody>
      </p:sp>
    </p:spTree>
    <p:extLst>
      <p:ext uri="{BB962C8B-B14F-4D97-AF65-F5344CB8AC3E}">
        <p14:creationId xmlns:p14="http://schemas.microsoft.com/office/powerpoint/2010/main" val="729314809"/>
      </p:ext>
    </p:extLst>
  </p:cSld>
</p:sld>
</file>

<file path=ppt/slides/slide8.xml><?xml version="1.0" encoding="utf-8"?>
<p:sld xmlns:p="http://schemas.openxmlformats.org/presentationml/2006/main">
  <p:cSld>
    <p:bg>
      <p:bgPr>
        <a:solidFill xmlns:a="http://schemas.openxmlformats.org/drawingml/2006/main">
          <a:srgbClr val="090E0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FDEDB892-CB52-4134-BD8D-28792485516A}"/>
              </a:ext>
            </a:extLst>
          </p:cNvPr>
          <p:cNvSpPr>
            <a:spLocks xmlns:a="http://schemas.openxmlformats.org/drawingml/2006/main" noGrp="1"/>
          </p:cNvSpPr>
          <p:nvPr/>
        </p:nvSpPr>
        <p:spPr>
          <a:xfrm xmlns:a="http://schemas.openxmlformats.org/drawingml/2006/main">
            <a:off x="533400" y="2667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B6FF3B"/>
                </a:solidFill>
                <a:latin typeface="Menlo"/>
                <a:ea typeface="Menlo"/>
                <a:cs typeface="Menlo"/>
              </a:defRPr>
            </a:pPr>
            <a:r>
              <a:rPr sz="975" b="1">
                <a:solidFill>
                  <a:srgbClr val="B6FF3B"/>
                </a:solidFill>
                <a:latin typeface="Menlo"/>
                <a:ea typeface="Menlo"/>
                <a:cs typeface="Menlo"/>
              </a:rPr>
              <a:t>SYS::RR-02162</a:t>
            </a:r>
          </a:p>
        </p:txBody>
      </p:sp>
      <p:sp>
        <p:nvSpPr>
          <p:cNvPr id="2" name="">
            <a:extLst xmlns:a="http://schemas.openxmlformats.org/drawingml/2006/main">
              <a:ext uri="{FF2B5EF4-FFF2-40B4-BE49-F238E27FC236}">
                <a16:creationId xmlns:a16="http://schemas.microsoft.com/office/drawing/2014/main" id="{DC46DC83-0E4D-4E73-A139-9FE764F5F5BA}"/>
              </a:ext>
            </a:extLst>
          </p:cNvPr>
          <p:cNvSpPr>
            <a:spLocks xmlns:a="http://schemas.openxmlformats.org/drawingml/2006/main" noGrp="1"/>
          </p:cNvSpPr>
          <p:nvPr/>
        </p:nvSpPr>
        <p:spPr>
          <a:xfrm xmlns:a="http://schemas.openxmlformats.org/drawingml/2006/main">
            <a:off x="11125200" y="2667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94A19E"/>
                </a:solidFill>
                <a:latin typeface="Menlo"/>
                <a:ea typeface="Menlo"/>
                <a:cs typeface="Menlo"/>
              </a:defRPr>
            </a:pPr>
            <a:r>
              <a:rPr sz="975" b="1">
                <a:solidFill>
                  <a:srgbClr val="94A19E"/>
                </a:solidFill>
                <a:latin typeface="Menlo"/>
                <a:ea typeface="Menlo"/>
                <a:cs typeface="Menlo"/>
              </a:rPr>
              <a:t>08</a:t>
            </a:r>
          </a:p>
        </p:txBody>
      </p:sp>
      <p:sp>
        <p:nvSpPr>
          <p:cNvPr id="3" name="">
            <a:extLst xmlns:a="http://schemas.openxmlformats.org/drawingml/2006/main">
              <a:ext uri="{FF2B5EF4-FFF2-40B4-BE49-F238E27FC236}">
                <a16:creationId xmlns:a16="http://schemas.microsoft.com/office/drawing/2014/main" id="{38079EEE-433C-4B03-8803-06B3173176A5}"/>
              </a:ext>
            </a:extLst>
          </p:cNvPr>
          <p:cNvSpPr>
            <a:spLocks xmlns:a="http://schemas.openxmlformats.org/drawingml/2006/main" noGrp="1"/>
          </p:cNvSpPr>
          <p:nvPr/>
        </p:nvSpPr>
        <p:spPr>
          <a:xfrm xmlns:a="http://schemas.openxmlformats.org/drawingml/2006/main">
            <a:off x="533400" y="581025"/>
            <a:ext cx="111252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4" name="">
            <a:extLst xmlns:a="http://schemas.openxmlformats.org/drawingml/2006/main">
              <a:ext uri="{FF2B5EF4-FFF2-40B4-BE49-F238E27FC236}">
                <a16:creationId xmlns:a16="http://schemas.microsoft.com/office/drawing/2014/main" id="{1F7D5B4B-8627-46B0-83F5-0C2350F13692}"/>
              </a:ext>
            </a:extLst>
          </p:cNvPr>
          <p:cNvSpPr>
            <a:spLocks xmlns:a="http://schemas.openxmlformats.org/drawingml/2006/main" noGrp="1"/>
          </p:cNvSpPr>
          <p:nvPr/>
        </p:nvSpPr>
        <p:spPr>
          <a:xfrm xmlns:a="http://schemas.openxmlformats.org/drawingml/2006/main">
            <a:off x="533400" y="74295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F1F5F2"/>
                </a:solidFill>
                <a:latin typeface="Roboto"/>
                <a:ea typeface="Roboto"/>
                <a:cs typeface="Roboto"/>
              </a:defRPr>
            </a:pPr>
            <a:r>
              <a:rPr sz="2700" b="1">
                <a:solidFill>
                  <a:srgbClr val="F1F5F2"/>
                </a:solidFill>
                <a:latin typeface="Roboto"/>
                <a:ea typeface="Roboto"/>
                <a:cs typeface="Roboto"/>
              </a:rPr>
              <a:t>Suggested user stories for Release 1</a:t>
            </a:r>
          </a:p>
        </p:txBody>
      </p:sp>
      <p:sp>
        <p:nvSpPr>
          <p:cNvPr id="5" name="">
            <a:extLst xmlns:a="http://schemas.openxmlformats.org/drawingml/2006/main">
              <a:ext uri="{FF2B5EF4-FFF2-40B4-BE49-F238E27FC236}">
                <a16:creationId xmlns:a16="http://schemas.microsoft.com/office/drawing/2014/main" id="{7B458D66-F8FD-49AC-A27D-3C6182DD71C8}"/>
              </a:ext>
            </a:extLst>
          </p:cNvPr>
          <p:cNvSpPr>
            <a:spLocks xmlns:a="http://schemas.openxmlformats.org/drawingml/2006/main" noGrp="1"/>
          </p:cNvSpPr>
          <p:nvPr/>
        </p:nvSpPr>
        <p:spPr>
          <a:xfrm xmlns:a="http://schemas.openxmlformats.org/drawingml/2006/main">
            <a:off x="533400" y="152400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B6FF3B"/>
                </a:solidFill>
                <a:latin typeface="Menlo"/>
                <a:ea typeface="Menlo"/>
                <a:cs typeface="Menlo"/>
              </a:defRPr>
            </a:pPr>
            <a:r>
              <a:rPr sz="1275" b="1">
                <a:solidFill>
                  <a:srgbClr val="B6FF3B"/>
                </a:solidFill>
                <a:latin typeface="Menlo"/>
                <a:ea typeface="Menlo"/>
                <a:cs typeface="Menlo"/>
              </a:rPr>
              <a:t>01</a:t>
            </a:r>
          </a:p>
        </p:txBody>
      </p:sp>
      <p:sp>
        <p:nvSpPr>
          <p:cNvPr id="6" name="">
            <a:extLst xmlns:a="http://schemas.openxmlformats.org/drawingml/2006/main">
              <a:ext uri="{FF2B5EF4-FFF2-40B4-BE49-F238E27FC236}">
                <a16:creationId xmlns:a16="http://schemas.microsoft.com/office/drawing/2014/main" id="{1BC8918F-3448-4FCA-9E3B-E3A3FD889436}"/>
              </a:ext>
            </a:extLst>
          </p:cNvPr>
          <p:cNvSpPr>
            <a:spLocks xmlns:a="http://schemas.openxmlformats.org/drawingml/2006/main" noGrp="1"/>
          </p:cNvSpPr>
          <p:nvPr/>
        </p:nvSpPr>
        <p:spPr>
          <a:xfrm xmlns:a="http://schemas.openxmlformats.org/drawingml/2006/main">
            <a:off x="1200150" y="150495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1F5F2"/>
                </a:solidFill>
                <a:latin typeface="Menlo"/>
                <a:ea typeface="Menlo"/>
                <a:cs typeface="Menlo"/>
              </a:defRPr>
            </a:pPr>
            <a:r>
              <a:rPr sz="1500" b="1">
                <a:solidFill>
                  <a:srgbClr val="F1F5F2"/>
                </a:solidFill>
                <a:latin typeface="Menlo"/>
                <a:ea typeface="Menlo"/>
                <a:cs typeface="Menlo"/>
              </a:rPr>
              <a:t>SEE SHARED STATE</a:t>
            </a:r>
          </a:p>
        </p:txBody>
      </p:sp>
      <p:sp>
        <p:nvSpPr>
          <p:cNvPr id="7" name="">
            <a:extLst xmlns:a="http://schemas.openxmlformats.org/drawingml/2006/main">
              <a:ext uri="{FF2B5EF4-FFF2-40B4-BE49-F238E27FC236}">
                <a16:creationId xmlns:a16="http://schemas.microsoft.com/office/drawing/2014/main" id="{5EDADD21-3DDE-4B3A-96AD-DCFB0F844BF7}"/>
              </a:ext>
            </a:extLst>
          </p:cNvPr>
          <p:cNvSpPr>
            <a:spLocks xmlns:a="http://schemas.openxmlformats.org/drawingml/2006/main" noGrp="1"/>
          </p:cNvSpPr>
          <p:nvPr/>
        </p:nvSpPr>
        <p:spPr>
          <a:xfrm xmlns:a="http://schemas.openxmlformats.org/drawingml/2006/main">
            <a:off x="1200150" y="1943100"/>
            <a:ext cx="457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94A19E"/>
                </a:solidFill>
                <a:latin typeface="Roboto"/>
                <a:ea typeface="Roboto"/>
                <a:cs typeface="Roboto"/>
              </a:defRPr>
            </a:pPr>
            <a:r>
              <a:rPr sz="1350" b="0">
                <a:solidFill>
                  <a:srgbClr val="94A19E"/>
                </a:solidFill>
                <a:latin typeface="Roboto"/>
                <a:ea typeface="Roboto"/>
                <a:cs typeface="Roboto"/>
              </a:rPr>
              <a:t>Board, robot direction, round and phase</a:t>
            </a:r>
          </a:p>
        </p:txBody>
      </p:sp>
      <p:sp>
        <p:nvSpPr>
          <p:cNvPr id="8" name="">
            <a:extLst xmlns:a="http://schemas.openxmlformats.org/drawingml/2006/main">
              <a:ext uri="{FF2B5EF4-FFF2-40B4-BE49-F238E27FC236}">
                <a16:creationId xmlns:a16="http://schemas.microsoft.com/office/drawing/2014/main" id="{9B11F7A5-7B00-4720-A4AA-317728B0BB2C}"/>
              </a:ext>
            </a:extLst>
          </p:cNvPr>
          <p:cNvSpPr>
            <a:spLocks xmlns:a="http://schemas.openxmlformats.org/drawingml/2006/main" noGrp="1"/>
          </p:cNvSpPr>
          <p:nvPr/>
        </p:nvSpPr>
        <p:spPr>
          <a:xfrm xmlns:a="http://schemas.openxmlformats.org/drawingml/2006/main">
            <a:off x="1200150" y="2590800"/>
            <a:ext cx="45720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9" name="">
            <a:extLst xmlns:a="http://schemas.openxmlformats.org/drawingml/2006/main">
              <a:ext uri="{FF2B5EF4-FFF2-40B4-BE49-F238E27FC236}">
                <a16:creationId xmlns:a16="http://schemas.microsoft.com/office/drawing/2014/main" id="{9336E58F-D047-4F47-8215-673EF5C3994F}"/>
              </a:ext>
            </a:extLst>
          </p:cNvPr>
          <p:cNvSpPr>
            <a:spLocks xmlns:a="http://schemas.openxmlformats.org/drawingml/2006/main" noGrp="1"/>
          </p:cNvSpPr>
          <p:nvPr/>
        </p:nvSpPr>
        <p:spPr>
          <a:xfrm xmlns:a="http://schemas.openxmlformats.org/drawingml/2006/main">
            <a:off x="6572250" y="152400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45DDF4"/>
                </a:solidFill>
                <a:latin typeface="Menlo"/>
                <a:ea typeface="Menlo"/>
                <a:cs typeface="Menlo"/>
              </a:defRPr>
            </a:pPr>
            <a:r>
              <a:rPr sz="1275" b="1">
                <a:solidFill>
                  <a:srgbClr val="45DDF4"/>
                </a:solidFill>
                <a:latin typeface="Menlo"/>
                <a:ea typeface="Menlo"/>
                <a:cs typeface="Menlo"/>
              </a:rPr>
              <a:t>02</a:t>
            </a:r>
          </a:p>
        </p:txBody>
      </p:sp>
      <p:sp>
        <p:nvSpPr>
          <p:cNvPr id="10" name="">
            <a:extLst xmlns:a="http://schemas.openxmlformats.org/drawingml/2006/main">
              <a:ext uri="{FF2B5EF4-FFF2-40B4-BE49-F238E27FC236}">
                <a16:creationId xmlns:a16="http://schemas.microsoft.com/office/drawing/2014/main" id="{E0BEB2A4-C2F5-495E-B290-87710F2E0832}"/>
              </a:ext>
            </a:extLst>
          </p:cNvPr>
          <p:cNvSpPr>
            <a:spLocks xmlns:a="http://schemas.openxmlformats.org/drawingml/2006/main" noGrp="1"/>
          </p:cNvSpPr>
          <p:nvPr/>
        </p:nvSpPr>
        <p:spPr>
          <a:xfrm xmlns:a="http://schemas.openxmlformats.org/drawingml/2006/main">
            <a:off x="7239000" y="1504950"/>
            <a:ext cx="441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1F5F2"/>
                </a:solidFill>
                <a:latin typeface="Menlo"/>
                <a:ea typeface="Menlo"/>
                <a:cs typeface="Menlo"/>
              </a:defRPr>
            </a:pPr>
            <a:r>
              <a:rPr sz="1500" b="1">
                <a:solidFill>
                  <a:srgbClr val="F1F5F2"/>
                </a:solidFill>
                <a:latin typeface="Menlo"/>
                <a:ea typeface="Menlo"/>
                <a:cs typeface="Menlo"/>
              </a:rPr>
              <a:t>PROGRAM PRIVATELY</a:t>
            </a:r>
          </a:p>
        </p:txBody>
      </p:sp>
      <p:sp>
        <p:nvSpPr>
          <p:cNvPr id="11" name="">
            <a:extLst xmlns:a="http://schemas.openxmlformats.org/drawingml/2006/main">
              <a:ext uri="{FF2B5EF4-FFF2-40B4-BE49-F238E27FC236}">
                <a16:creationId xmlns:a16="http://schemas.microsoft.com/office/drawing/2014/main" id="{59E21261-5B8D-42F1-8FB6-3FD3F9BB9D75}"/>
              </a:ext>
            </a:extLst>
          </p:cNvPr>
          <p:cNvSpPr>
            <a:spLocks xmlns:a="http://schemas.openxmlformats.org/drawingml/2006/main" noGrp="1"/>
          </p:cNvSpPr>
          <p:nvPr/>
        </p:nvSpPr>
        <p:spPr>
          <a:xfrm xmlns:a="http://schemas.openxmlformats.org/drawingml/2006/main">
            <a:off x="7239000" y="1943100"/>
            <a:ext cx="4419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94A19E"/>
                </a:solidFill>
                <a:latin typeface="Roboto"/>
                <a:ea typeface="Roboto"/>
                <a:cs typeface="Roboto"/>
              </a:defRPr>
            </a:pPr>
            <a:r>
              <a:rPr sz="1350" b="0">
                <a:solidFill>
                  <a:srgbClr val="94A19E"/>
                </a:solidFill>
                <a:latin typeface="Roboto"/>
                <a:ea typeface="Roboto"/>
                <a:cs typeface="Roboto"/>
              </a:rPr>
              <a:t>Receive and order action cards</a:t>
            </a:r>
          </a:p>
        </p:txBody>
      </p:sp>
      <p:sp>
        <p:nvSpPr>
          <p:cNvPr id="12" name="">
            <a:extLst xmlns:a="http://schemas.openxmlformats.org/drawingml/2006/main">
              <a:ext uri="{FF2B5EF4-FFF2-40B4-BE49-F238E27FC236}">
                <a16:creationId xmlns:a16="http://schemas.microsoft.com/office/drawing/2014/main" id="{3DD6962F-1350-48F9-8806-BB20D4F6535A}"/>
              </a:ext>
            </a:extLst>
          </p:cNvPr>
          <p:cNvSpPr>
            <a:spLocks xmlns:a="http://schemas.openxmlformats.org/drawingml/2006/main" noGrp="1"/>
          </p:cNvSpPr>
          <p:nvPr/>
        </p:nvSpPr>
        <p:spPr>
          <a:xfrm xmlns:a="http://schemas.openxmlformats.org/drawingml/2006/main">
            <a:off x="7239000" y="2590800"/>
            <a:ext cx="44196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13" name="">
            <a:extLst xmlns:a="http://schemas.openxmlformats.org/drawingml/2006/main">
              <a:ext uri="{FF2B5EF4-FFF2-40B4-BE49-F238E27FC236}">
                <a16:creationId xmlns:a16="http://schemas.microsoft.com/office/drawing/2014/main" id="{A5DB65EE-BDAB-48EC-8002-6BB82B86CA0F}"/>
              </a:ext>
            </a:extLst>
          </p:cNvPr>
          <p:cNvSpPr>
            <a:spLocks xmlns:a="http://schemas.openxmlformats.org/drawingml/2006/main" noGrp="1"/>
          </p:cNvSpPr>
          <p:nvPr/>
        </p:nvSpPr>
        <p:spPr>
          <a:xfrm xmlns:a="http://schemas.openxmlformats.org/drawingml/2006/main">
            <a:off x="533400" y="29527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B6FF3B"/>
                </a:solidFill>
                <a:latin typeface="Menlo"/>
                <a:ea typeface="Menlo"/>
                <a:cs typeface="Menlo"/>
              </a:defRPr>
            </a:pPr>
            <a:r>
              <a:rPr sz="1275" b="1">
                <a:solidFill>
                  <a:srgbClr val="B6FF3B"/>
                </a:solidFill>
                <a:latin typeface="Menlo"/>
                <a:ea typeface="Menlo"/>
                <a:cs typeface="Menlo"/>
              </a:rPr>
              <a:t>03</a:t>
            </a:r>
          </a:p>
        </p:txBody>
      </p:sp>
      <p:sp>
        <p:nvSpPr>
          <p:cNvPr id="14" name="">
            <a:extLst xmlns:a="http://schemas.openxmlformats.org/drawingml/2006/main">
              <a:ext uri="{FF2B5EF4-FFF2-40B4-BE49-F238E27FC236}">
                <a16:creationId xmlns:a16="http://schemas.microsoft.com/office/drawing/2014/main" id="{2E739E73-862C-4421-8115-963CE8B16B7A}"/>
              </a:ext>
            </a:extLst>
          </p:cNvPr>
          <p:cNvSpPr>
            <a:spLocks xmlns:a="http://schemas.openxmlformats.org/drawingml/2006/main" noGrp="1"/>
          </p:cNvSpPr>
          <p:nvPr/>
        </p:nvSpPr>
        <p:spPr>
          <a:xfrm xmlns:a="http://schemas.openxmlformats.org/drawingml/2006/main">
            <a:off x="1200150" y="29337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1F5F2"/>
                </a:solidFill>
                <a:latin typeface="Menlo"/>
                <a:ea typeface="Menlo"/>
                <a:cs typeface="Menlo"/>
              </a:defRPr>
            </a:pPr>
            <a:r>
              <a:rPr sz="1500" b="1">
                <a:solidFill>
                  <a:srgbClr val="F1F5F2"/>
                </a:solidFill>
                <a:latin typeface="Menlo"/>
                <a:ea typeface="Menlo"/>
                <a:cs typeface="Menlo"/>
              </a:rPr>
              <a:t>EXECUTE BY PRIORITY</a:t>
            </a:r>
          </a:p>
        </p:txBody>
      </p:sp>
      <p:sp>
        <p:nvSpPr>
          <p:cNvPr id="15" name="">
            <a:extLst xmlns:a="http://schemas.openxmlformats.org/drawingml/2006/main">
              <a:ext uri="{FF2B5EF4-FFF2-40B4-BE49-F238E27FC236}">
                <a16:creationId xmlns:a16="http://schemas.microsoft.com/office/drawing/2014/main" id="{C3AD73E4-5A9D-42DA-AD69-7450907B8661}"/>
              </a:ext>
            </a:extLst>
          </p:cNvPr>
          <p:cNvSpPr>
            <a:spLocks xmlns:a="http://schemas.openxmlformats.org/drawingml/2006/main" noGrp="1"/>
          </p:cNvSpPr>
          <p:nvPr/>
        </p:nvSpPr>
        <p:spPr>
          <a:xfrm xmlns:a="http://schemas.openxmlformats.org/drawingml/2006/main">
            <a:off x="1200150" y="3371850"/>
            <a:ext cx="457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94A19E"/>
                </a:solidFill>
                <a:latin typeface="Roboto"/>
                <a:ea typeface="Roboto"/>
                <a:cs typeface="Roboto"/>
              </a:defRPr>
            </a:pPr>
            <a:r>
              <a:rPr sz="1350" b="0">
                <a:solidFill>
                  <a:srgbClr val="94A19E"/>
                </a:solidFill>
                <a:latin typeface="Roboto"/>
                <a:ea typeface="Roboto"/>
                <a:cs typeface="Roboto"/>
              </a:rPr>
              <a:t>Reveal and resolve locked programs</a:t>
            </a:r>
          </a:p>
        </p:txBody>
      </p:sp>
      <p:sp>
        <p:nvSpPr>
          <p:cNvPr id="16" name="">
            <a:extLst xmlns:a="http://schemas.openxmlformats.org/drawingml/2006/main">
              <a:ext uri="{FF2B5EF4-FFF2-40B4-BE49-F238E27FC236}">
                <a16:creationId xmlns:a16="http://schemas.microsoft.com/office/drawing/2014/main" id="{E49407AC-6B38-4D26-8BD8-F5CFBFAF5AAC}"/>
              </a:ext>
            </a:extLst>
          </p:cNvPr>
          <p:cNvSpPr>
            <a:spLocks xmlns:a="http://schemas.openxmlformats.org/drawingml/2006/main" noGrp="1"/>
          </p:cNvSpPr>
          <p:nvPr/>
        </p:nvSpPr>
        <p:spPr>
          <a:xfrm xmlns:a="http://schemas.openxmlformats.org/drawingml/2006/main">
            <a:off x="1200150" y="4019550"/>
            <a:ext cx="45720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17" name="">
            <a:extLst xmlns:a="http://schemas.openxmlformats.org/drawingml/2006/main">
              <a:ext uri="{FF2B5EF4-FFF2-40B4-BE49-F238E27FC236}">
                <a16:creationId xmlns:a16="http://schemas.microsoft.com/office/drawing/2014/main" id="{C62FE1C7-74BD-4BBA-BC7A-002E6A150D53}"/>
              </a:ext>
            </a:extLst>
          </p:cNvPr>
          <p:cNvSpPr>
            <a:spLocks xmlns:a="http://schemas.openxmlformats.org/drawingml/2006/main" noGrp="1"/>
          </p:cNvSpPr>
          <p:nvPr/>
        </p:nvSpPr>
        <p:spPr>
          <a:xfrm xmlns:a="http://schemas.openxmlformats.org/drawingml/2006/main">
            <a:off x="6572250" y="29527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45DDF4"/>
                </a:solidFill>
                <a:latin typeface="Menlo"/>
                <a:ea typeface="Menlo"/>
                <a:cs typeface="Menlo"/>
              </a:defRPr>
            </a:pPr>
            <a:r>
              <a:rPr sz="1275" b="1">
                <a:solidFill>
                  <a:srgbClr val="45DDF4"/>
                </a:solidFill>
                <a:latin typeface="Menlo"/>
                <a:ea typeface="Menlo"/>
                <a:cs typeface="Menlo"/>
              </a:rPr>
              <a:t>04</a:t>
            </a:r>
          </a:p>
        </p:txBody>
      </p:sp>
      <p:sp>
        <p:nvSpPr>
          <p:cNvPr id="18" name="">
            <a:extLst xmlns:a="http://schemas.openxmlformats.org/drawingml/2006/main">
              <a:ext uri="{FF2B5EF4-FFF2-40B4-BE49-F238E27FC236}">
                <a16:creationId xmlns:a16="http://schemas.microsoft.com/office/drawing/2014/main" id="{3A990645-4957-4EC3-A34D-D048E4CCD0EB}"/>
              </a:ext>
            </a:extLst>
          </p:cNvPr>
          <p:cNvSpPr>
            <a:spLocks xmlns:a="http://schemas.openxmlformats.org/drawingml/2006/main" noGrp="1"/>
          </p:cNvSpPr>
          <p:nvPr/>
        </p:nvSpPr>
        <p:spPr>
          <a:xfrm xmlns:a="http://schemas.openxmlformats.org/drawingml/2006/main">
            <a:off x="7239000" y="2933700"/>
            <a:ext cx="441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1F5F2"/>
                </a:solidFill>
                <a:latin typeface="Menlo"/>
                <a:ea typeface="Menlo"/>
                <a:cs typeface="Menlo"/>
              </a:defRPr>
            </a:pPr>
            <a:r>
              <a:rPr sz="1500" b="1">
                <a:solidFill>
                  <a:srgbClr val="F1F5F2"/>
                </a:solidFill>
                <a:latin typeface="Menlo"/>
                <a:ea typeface="Menlo"/>
                <a:cs typeface="Menlo"/>
              </a:rPr>
              <a:t>APPLY BOARD RULES</a:t>
            </a:r>
          </a:p>
        </p:txBody>
      </p:sp>
      <p:sp>
        <p:nvSpPr>
          <p:cNvPr id="19" name="">
            <a:extLst xmlns:a="http://schemas.openxmlformats.org/drawingml/2006/main">
              <a:ext uri="{FF2B5EF4-FFF2-40B4-BE49-F238E27FC236}">
                <a16:creationId xmlns:a16="http://schemas.microsoft.com/office/drawing/2014/main" id="{573BB8AA-62E6-46DE-91DD-9F318070939C}"/>
              </a:ext>
            </a:extLst>
          </p:cNvPr>
          <p:cNvSpPr>
            <a:spLocks xmlns:a="http://schemas.openxmlformats.org/drawingml/2006/main" noGrp="1"/>
          </p:cNvSpPr>
          <p:nvPr/>
        </p:nvSpPr>
        <p:spPr>
          <a:xfrm xmlns:a="http://schemas.openxmlformats.org/drawingml/2006/main">
            <a:off x="7239000" y="3371850"/>
            <a:ext cx="4419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94A19E"/>
                </a:solidFill>
                <a:latin typeface="Roboto"/>
                <a:ea typeface="Roboto"/>
                <a:cs typeface="Roboto"/>
              </a:defRPr>
            </a:pPr>
            <a:r>
              <a:rPr sz="1350" b="0">
                <a:solidFill>
                  <a:srgbClr val="94A19E"/>
                </a:solidFill>
                <a:latin typeface="Roboto"/>
                <a:ea typeface="Roboto"/>
                <a:cs typeface="Roboto"/>
              </a:rPr>
              <a:t>Conveyors, gears, walls, pits and checkpoints</a:t>
            </a:r>
          </a:p>
        </p:txBody>
      </p:sp>
      <p:sp>
        <p:nvSpPr>
          <p:cNvPr id="20" name="">
            <a:extLst xmlns:a="http://schemas.openxmlformats.org/drawingml/2006/main">
              <a:ext uri="{FF2B5EF4-FFF2-40B4-BE49-F238E27FC236}">
                <a16:creationId xmlns:a16="http://schemas.microsoft.com/office/drawing/2014/main" id="{3D053109-D621-4966-9BB4-87192B7740BD}"/>
              </a:ext>
            </a:extLst>
          </p:cNvPr>
          <p:cNvSpPr>
            <a:spLocks xmlns:a="http://schemas.openxmlformats.org/drawingml/2006/main" noGrp="1"/>
          </p:cNvSpPr>
          <p:nvPr/>
        </p:nvSpPr>
        <p:spPr>
          <a:xfrm xmlns:a="http://schemas.openxmlformats.org/drawingml/2006/main">
            <a:off x="7239000" y="4019550"/>
            <a:ext cx="44196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21" name="">
            <a:extLst xmlns:a="http://schemas.openxmlformats.org/drawingml/2006/main">
              <a:ext uri="{FF2B5EF4-FFF2-40B4-BE49-F238E27FC236}">
                <a16:creationId xmlns:a16="http://schemas.microsoft.com/office/drawing/2014/main" id="{FDD32384-7ED0-4B89-A706-4FFC000A91AD}"/>
              </a:ext>
            </a:extLst>
          </p:cNvPr>
          <p:cNvSpPr>
            <a:spLocks xmlns:a="http://schemas.openxmlformats.org/drawingml/2006/main" noGrp="1"/>
          </p:cNvSpPr>
          <p:nvPr/>
        </p:nvSpPr>
        <p:spPr>
          <a:xfrm xmlns:a="http://schemas.openxmlformats.org/drawingml/2006/main">
            <a:off x="533400" y="438150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B6FF3B"/>
                </a:solidFill>
                <a:latin typeface="Menlo"/>
                <a:ea typeface="Menlo"/>
                <a:cs typeface="Menlo"/>
              </a:defRPr>
            </a:pPr>
            <a:r>
              <a:rPr sz="1275" b="1">
                <a:solidFill>
                  <a:srgbClr val="B6FF3B"/>
                </a:solidFill>
                <a:latin typeface="Menlo"/>
                <a:ea typeface="Menlo"/>
                <a:cs typeface="Menlo"/>
              </a:rPr>
              <a:t>05</a:t>
            </a:r>
          </a:p>
        </p:txBody>
      </p:sp>
      <p:sp>
        <p:nvSpPr>
          <p:cNvPr id="22" name="">
            <a:extLst xmlns:a="http://schemas.openxmlformats.org/drawingml/2006/main">
              <a:ext uri="{FF2B5EF4-FFF2-40B4-BE49-F238E27FC236}">
                <a16:creationId xmlns:a16="http://schemas.microsoft.com/office/drawing/2014/main" id="{9C2A4840-BA48-4F14-B0AF-4B9821A1A78A}"/>
              </a:ext>
            </a:extLst>
          </p:cNvPr>
          <p:cNvSpPr>
            <a:spLocks xmlns:a="http://schemas.openxmlformats.org/drawingml/2006/main" noGrp="1"/>
          </p:cNvSpPr>
          <p:nvPr/>
        </p:nvSpPr>
        <p:spPr>
          <a:xfrm xmlns:a="http://schemas.openxmlformats.org/drawingml/2006/main">
            <a:off x="1200150" y="436245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1F5F2"/>
                </a:solidFill>
                <a:latin typeface="Menlo"/>
                <a:ea typeface="Menlo"/>
                <a:cs typeface="Menlo"/>
              </a:defRPr>
            </a:pPr>
            <a:r>
              <a:rPr sz="1500" b="1">
                <a:solidFill>
                  <a:srgbClr val="F1F5F2"/>
                </a:solidFill>
                <a:latin typeface="Menlo"/>
                <a:ea typeface="Menlo"/>
                <a:cs typeface="Menlo"/>
              </a:rPr>
              <a:t>TRACK CONSEQUENCES</a:t>
            </a:r>
          </a:p>
        </p:txBody>
      </p:sp>
      <p:sp>
        <p:nvSpPr>
          <p:cNvPr id="23" name="">
            <a:extLst xmlns:a="http://schemas.openxmlformats.org/drawingml/2006/main">
              <a:ext uri="{FF2B5EF4-FFF2-40B4-BE49-F238E27FC236}">
                <a16:creationId xmlns:a16="http://schemas.microsoft.com/office/drawing/2014/main" id="{66B5D816-F2F5-4A6B-8CEA-30A9B55271A8}"/>
              </a:ext>
            </a:extLst>
          </p:cNvPr>
          <p:cNvSpPr>
            <a:spLocks xmlns:a="http://schemas.openxmlformats.org/drawingml/2006/main" noGrp="1"/>
          </p:cNvSpPr>
          <p:nvPr/>
        </p:nvSpPr>
        <p:spPr>
          <a:xfrm xmlns:a="http://schemas.openxmlformats.org/drawingml/2006/main">
            <a:off x="1200150" y="4800600"/>
            <a:ext cx="457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94A19E"/>
                </a:solidFill>
                <a:latin typeface="Roboto"/>
                <a:ea typeface="Roboto"/>
                <a:cs typeface="Roboto"/>
              </a:defRPr>
            </a:pPr>
            <a:r>
              <a:rPr sz="1350" b="0">
                <a:solidFill>
                  <a:srgbClr val="94A19E"/>
                </a:solidFill>
                <a:latin typeface="Roboto"/>
                <a:ea typeface="Roboto"/>
                <a:cs typeface="Roboto"/>
              </a:rPr>
              <a:t>Damage, lives and checkpoint progress</a:t>
            </a:r>
          </a:p>
        </p:txBody>
      </p:sp>
      <p:sp>
        <p:nvSpPr>
          <p:cNvPr id="24" name="">
            <a:extLst xmlns:a="http://schemas.openxmlformats.org/drawingml/2006/main">
              <a:ext uri="{FF2B5EF4-FFF2-40B4-BE49-F238E27FC236}">
                <a16:creationId xmlns:a16="http://schemas.microsoft.com/office/drawing/2014/main" id="{865FC87F-7F48-4006-9E32-E29ACF45F1B2}"/>
              </a:ext>
            </a:extLst>
          </p:cNvPr>
          <p:cNvSpPr>
            <a:spLocks xmlns:a="http://schemas.openxmlformats.org/drawingml/2006/main" noGrp="1"/>
          </p:cNvSpPr>
          <p:nvPr/>
        </p:nvSpPr>
        <p:spPr>
          <a:xfrm xmlns:a="http://schemas.openxmlformats.org/drawingml/2006/main">
            <a:off x="1200150" y="5448300"/>
            <a:ext cx="45720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25" name="">
            <a:extLst xmlns:a="http://schemas.openxmlformats.org/drawingml/2006/main">
              <a:ext uri="{FF2B5EF4-FFF2-40B4-BE49-F238E27FC236}">
                <a16:creationId xmlns:a16="http://schemas.microsoft.com/office/drawing/2014/main" id="{93A908FA-AA00-4044-91DD-FE60DD6CD21C}"/>
              </a:ext>
            </a:extLst>
          </p:cNvPr>
          <p:cNvSpPr>
            <a:spLocks xmlns:a="http://schemas.openxmlformats.org/drawingml/2006/main" noGrp="1"/>
          </p:cNvSpPr>
          <p:nvPr/>
        </p:nvSpPr>
        <p:spPr>
          <a:xfrm xmlns:a="http://schemas.openxmlformats.org/drawingml/2006/main">
            <a:off x="6572250" y="438150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45DDF4"/>
                </a:solidFill>
                <a:latin typeface="Menlo"/>
                <a:ea typeface="Menlo"/>
                <a:cs typeface="Menlo"/>
              </a:defRPr>
            </a:pPr>
            <a:r>
              <a:rPr sz="1275" b="1">
                <a:solidFill>
                  <a:srgbClr val="45DDF4"/>
                </a:solidFill>
                <a:latin typeface="Menlo"/>
                <a:ea typeface="Menlo"/>
                <a:cs typeface="Menlo"/>
              </a:rPr>
              <a:t>06</a:t>
            </a:r>
          </a:p>
        </p:txBody>
      </p:sp>
      <p:sp>
        <p:nvSpPr>
          <p:cNvPr id="26" name="">
            <a:extLst xmlns:a="http://schemas.openxmlformats.org/drawingml/2006/main">
              <a:ext uri="{FF2B5EF4-FFF2-40B4-BE49-F238E27FC236}">
                <a16:creationId xmlns:a16="http://schemas.microsoft.com/office/drawing/2014/main" id="{46D4FFB7-B876-4B68-8220-AC39D8C04B06}"/>
              </a:ext>
            </a:extLst>
          </p:cNvPr>
          <p:cNvSpPr>
            <a:spLocks xmlns:a="http://schemas.openxmlformats.org/drawingml/2006/main" noGrp="1"/>
          </p:cNvSpPr>
          <p:nvPr/>
        </p:nvSpPr>
        <p:spPr>
          <a:xfrm xmlns:a="http://schemas.openxmlformats.org/drawingml/2006/main">
            <a:off x="7239000" y="4362450"/>
            <a:ext cx="441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1F5F2"/>
                </a:solidFill>
                <a:latin typeface="Menlo"/>
                <a:ea typeface="Menlo"/>
                <a:cs typeface="Menlo"/>
              </a:defRPr>
            </a:pPr>
            <a:r>
              <a:rPr sz="1500" b="1">
                <a:solidFill>
                  <a:srgbClr val="F1F5F2"/>
                </a:solidFill>
                <a:latin typeface="Menlo"/>
                <a:ea typeface="Menlo"/>
                <a:cs typeface="Menlo"/>
              </a:rPr>
              <a:t>SYNCHRONIZE RESULTS</a:t>
            </a:r>
          </a:p>
        </p:txBody>
      </p:sp>
      <p:sp>
        <p:nvSpPr>
          <p:cNvPr id="27" name="">
            <a:extLst xmlns:a="http://schemas.openxmlformats.org/drawingml/2006/main">
              <a:ext uri="{FF2B5EF4-FFF2-40B4-BE49-F238E27FC236}">
                <a16:creationId xmlns:a16="http://schemas.microsoft.com/office/drawing/2014/main" id="{7EB479CE-90A4-46B6-B2B3-70B197CBBB99}"/>
              </a:ext>
            </a:extLst>
          </p:cNvPr>
          <p:cNvSpPr>
            <a:spLocks xmlns:a="http://schemas.openxmlformats.org/drawingml/2006/main" noGrp="1"/>
          </p:cNvSpPr>
          <p:nvPr/>
        </p:nvSpPr>
        <p:spPr>
          <a:xfrm xmlns:a="http://schemas.openxmlformats.org/drawingml/2006/main">
            <a:off x="7239000" y="4800600"/>
            <a:ext cx="4419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94A19E"/>
                </a:solidFill>
                <a:latin typeface="Roboto"/>
                <a:ea typeface="Roboto"/>
                <a:cs typeface="Roboto"/>
              </a:defRPr>
            </a:pPr>
            <a:r>
              <a:rPr sz="1350" b="0">
                <a:solidFill>
                  <a:srgbClr val="94A19E"/>
                </a:solidFill>
                <a:latin typeface="Roboto"/>
                <a:ea typeface="Roboto"/>
                <a:cs typeface="Roboto"/>
              </a:rPr>
              <a:t>The same state for every player</a:t>
            </a:r>
          </a:p>
        </p:txBody>
      </p:sp>
      <p:sp>
        <p:nvSpPr>
          <p:cNvPr id="28" name="">
            <a:extLst xmlns:a="http://schemas.openxmlformats.org/drawingml/2006/main">
              <a:ext uri="{FF2B5EF4-FFF2-40B4-BE49-F238E27FC236}">
                <a16:creationId xmlns:a16="http://schemas.microsoft.com/office/drawing/2014/main" id="{EE685ACF-70DA-42CE-B4AF-66DB054BC383}"/>
              </a:ext>
            </a:extLst>
          </p:cNvPr>
          <p:cNvSpPr>
            <a:spLocks xmlns:a="http://schemas.openxmlformats.org/drawingml/2006/main" noGrp="1"/>
          </p:cNvSpPr>
          <p:nvPr/>
        </p:nvSpPr>
        <p:spPr>
          <a:xfrm xmlns:a="http://schemas.openxmlformats.org/drawingml/2006/main">
            <a:off x="7239000" y="5448300"/>
            <a:ext cx="44196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29" name="">
            <a:extLst xmlns:a="http://schemas.openxmlformats.org/drawingml/2006/main">
              <a:ext uri="{FF2B5EF4-FFF2-40B4-BE49-F238E27FC236}">
                <a16:creationId xmlns:a16="http://schemas.microsoft.com/office/drawing/2014/main" id="{97C8AB03-BDC7-4445-ADF3-C074FA456D86}"/>
              </a:ext>
            </a:extLst>
          </p:cNvPr>
          <p:cNvSpPr>
            <a:spLocks xmlns:a="http://schemas.openxmlformats.org/drawingml/2006/main" noGrp="1"/>
          </p:cNvSpPr>
          <p:nvPr/>
        </p:nvSpPr>
        <p:spPr>
          <a:xfrm xmlns:a="http://schemas.openxmlformats.org/drawingml/2006/main">
            <a:off x="533400" y="6019800"/>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FC857"/>
                </a:solidFill>
                <a:latin typeface="Roboto"/>
                <a:ea typeface="Roboto"/>
                <a:cs typeface="Roboto"/>
              </a:defRPr>
            </a:pPr>
            <a:r>
              <a:rPr sz="1650" b="1">
                <a:solidFill>
                  <a:srgbClr val="FFC857"/>
                </a:solidFill>
                <a:latin typeface="Roboto"/>
                <a:ea typeface="Roboto"/>
                <a:cs typeface="Roboto"/>
              </a:rPr>
              <a:t>Together, the stories describe one coherent playable round.</a:t>
            </a:r>
          </a:p>
        </p:txBody>
      </p:sp>
    </p:spTree>
    <p:extLst>
      <p:ext uri="{BB962C8B-B14F-4D97-AF65-F5344CB8AC3E}">
        <p14:creationId xmlns:p14="http://schemas.microsoft.com/office/powerpoint/2010/main" val="905559600"/>
      </p:ext>
    </p:extLst>
  </p:cSld>
</p:sld>
</file>

<file path=ppt/slides/slide9.xml><?xml version="1.0" encoding="utf-8"?>
<p:sld xmlns:p="http://schemas.openxmlformats.org/presentationml/2006/main">
  <p:cSld>
    <p:bg>
      <p:bgPr>
        <a:solidFill xmlns:a="http://schemas.openxmlformats.org/drawingml/2006/main">
          <a:srgbClr val="090E0F"/>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EBD08883-169B-46A7-AF4C-22D6F449755F}"/>
              </a:ext>
            </a:extLst>
          </p:cNvPr>
          <p:cNvSpPr>
            <a:spLocks xmlns:a="http://schemas.openxmlformats.org/drawingml/2006/main" noGrp="1"/>
          </p:cNvSpPr>
          <p:nvPr/>
        </p:nvSpPr>
        <p:spPr>
          <a:xfrm xmlns:a="http://schemas.openxmlformats.org/drawingml/2006/main">
            <a:off x="533400" y="2667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B6FF3B"/>
                </a:solidFill>
                <a:latin typeface="Menlo"/>
                <a:ea typeface="Menlo"/>
                <a:cs typeface="Menlo"/>
              </a:defRPr>
            </a:pPr>
            <a:r>
              <a:rPr sz="975" b="1">
                <a:solidFill>
                  <a:srgbClr val="B6FF3B"/>
                </a:solidFill>
                <a:latin typeface="Menlo"/>
                <a:ea typeface="Menlo"/>
                <a:cs typeface="Menlo"/>
              </a:rPr>
              <a:t>SYS::RR-02162</a:t>
            </a:r>
          </a:p>
        </p:txBody>
      </p:sp>
      <p:sp>
        <p:nvSpPr>
          <p:cNvPr id="2" name="">
            <a:extLst xmlns:a="http://schemas.openxmlformats.org/drawingml/2006/main">
              <a:ext uri="{FF2B5EF4-FFF2-40B4-BE49-F238E27FC236}">
                <a16:creationId xmlns:a16="http://schemas.microsoft.com/office/drawing/2014/main" id="{285A3AA0-A4F5-49BC-8EC5-407E6425D2B8}"/>
              </a:ext>
            </a:extLst>
          </p:cNvPr>
          <p:cNvSpPr>
            <a:spLocks xmlns:a="http://schemas.openxmlformats.org/drawingml/2006/main" noGrp="1"/>
          </p:cNvSpPr>
          <p:nvPr/>
        </p:nvSpPr>
        <p:spPr>
          <a:xfrm xmlns:a="http://schemas.openxmlformats.org/drawingml/2006/main">
            <a:off x="11125200" y="2667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94A19E"/>
                </a:solidFill>
                <a:latin typeface="Menlo"/>
                <a:ea typeface="Menlo"/>
                <a:cs typeface="Menlo"/>
              </a:defRPr>
            </a:pPr>
            <a:r>
              <a:rPr sz="975" b="1">
                <a:solidFill>
                  <a:srgbClr val="94A19E"/>
                </a:solidFill>
                <a:latin typeface="Menlo"/>
                <a:ea typeface="Menlo"/>
                <a:cs typeface="Menlo"/>
              </a:rPr>
              <a:t>09</a:t>
            </a:r>
          </a:p>
        </p:txBody>
      </p:sp>
      <p:sp>
        <p:nvSpPr>
          <p:cNvPr id="3" name="">
            <a:extLst xmlns:a="http://schemas.openxmlformats.org/drawingml/2006/main">
              <a:ext uri="{FF2B5EF4-FFF2-40B4-BE49-F238E27FC236}">
                <a16:creationId xmlns:a16="http://schemas.microsoft.com/office/drawing/2014/main" id="{8B327B3B-60F2-4814-90F0-AD5E8083D4DE}"/>
              </a:ext>
            </a:extLst>
          </p:cNvPr>
          <p:cNvSpPr>
            <a:spLocks xmlns:a="http://schemas.openxmlformats.org/drawingml/2006/main" noGrp="1"/>
          </p:cNvSpPr>
          <p:nvPr/>
        </p:nvSpPr>
        <p:spPr>
          <a:xfrm xmlns:a="http://schemas.openxmlformats.org/drawingml/2006/main">
            <a:off x="533400" y="581025"/>
            <a:ext cx="111252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4" name="">
            <a:extLst xmlns:a="http://schemas.openxmlformats.org/drawingml/2006/main">
              <a:ext uri="{FF2B5EF4-FFF2-40B4-BE49-F238E27FC236}">
                <a16:creationId xmlns:a16="http://schemas.microsoft.com/office/drawing/2014/main" id="{DD7E5B65-6BFE-41F6-A4CF-8DA675D00DD5}"/>
              </a:ext>
            </a:extLst>
          </p:cNvPr>
          <p:cNvSpPr>
            <a:spLocks xmlns:a="http://schemas.openxmlformats.org/drawingml/2006/main" noGrp="1"/>
          </p:cNvSpPr>
          <p:nvPr/>
        </p:nvSpPr>
        <p:spPr>
          <a:xfrm xmlns:a="http://schemas.openxmlformats.org/drawingml/2006/main">
            <a:off x="533400" y="74295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F1F5F2"/>
                </a:solidFill>
                <a:latin typeface="Roboto"/>
                <a:ea typeface="Roboto"/>
                <a:cs typeface="Roboto"/>
              </a:defRPr>
            </a:pPr>
            <a:r>
              <a:rPr sz="2700" b="1">
                <a:solidFill>
                  <a:srgbClr val="F1F5F2"/>
                </a:solidFill>
                <a:latin typeface="Roboto"/>
                <a:ea typeface="Roboto"/>
                <a:cs typeface="Roboto"/>
              </a:rPr>
              <a:t>Scoped domain model</a:t>
            </a:r>
          </a:p>
        </p:txBody>
      </p:sp>
      <p:sp>
        <p:nvSpPr>
          <p:cNvPr id="5" name="">
            <a:extLst xmlns:a="http://schemas.openxmlformats.org/drawingml/2006/main">
              <a:ext uri="{FF2B5EF4-FFF2-40B4-BE49-F238E27FC236}">
                <a16:creationId xmlns:a16="http://schemas.microsoft.com/office/drawing/2014/main" id="{8CF43271-8DD5-4A42-A467-86CC3185EF5F}"/>
              </a:ext>
            </a:extLst>
          </p:cNvPr>
          <p:cNvSpPr>
            <a:spLocks xmlns:a="http://schemas.openxmlformats.org/drawingml/2006/main" noGrp="1"/>
          </p:cNvSpPr>
          <p:nvPr/>
        </p:nvSpPr>
        <p:spPr>
          <a:xfrm xmlns:a="http://schemas.openxmlformats.org/drawingml/2006/main">
            <a:off x="4000500" y="2000250"/>
            <a:ext cx="1238250" cy="666750"/>
          </a:xfrm>
          <a:prstGeom xmlns:a="http://schemas.openxmlformats.org/drawingml/2006/main" prst="line">
            <a:avLst/>
          </a:prstGeom>
          <a:noFill xmlns:a="http://schemas.openxmlformats.org/drawingml/2006/main"/>
          <a:ln xmlns:a="http://schemas.openxmlformats.org/drawingml/2006/main" w="19050">
            <a:solidFill>
              <a:srgbClr val="2A3637"/>
            </a:solidFill>
          </a:ln>
        </p:spPr>
      </p:sp>
      <p:sp>
        <p:nvSpPr>
          <p:cNvPr id="6" name="">
            <a:extLst xmlns:a="http://schemas.openxmlformats.org/drawingml/2006/main">
              <a:ext uri="{FF2B5EF4-FFF2-40B4-BE49-F238E27FC236}">
                <a16:creationId xmlns:a16="http://schemas.microsoft.com/office/drawing/2014/main" id="{20B35EBB-8CDB-420E-98BA-5F60C290D7FF}"/>
              </a:ext>
            </a:extLst>
          </p:cNvPr>
          <p:cNvSpPr>
            <a:spLocks xmlns:a="http://schemas.openxmlformats.org/drawingml/2006/main" noGrp="1"/>
          </p:cNvSpPr>
          <p:nvPr/>
        </p:nvSpPr>
        <p:spPr>
          <a:xfrm xmlns:a="http://schemas.openxmlformats.org/drawingml/2006/main">
            <a:off x="4143375" y="22288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94A19E"/>
                </a:solidFill>
                <a:latin typeface="Menlo"/>
                <a:ea typeface="Menlo"/>
                <a:cs typeface="Menlo"/>
              </a:defRPr>
            </a:pPr>
            <a:r>
              <a:rPr sz="900" b="1">
                <a:solidFill>
                  <a:srgbClr val="94A19E"/>
                </a:solidFill>
                <a:latin typeface="Menlo"/>
                <a:ea typeface="Menlo"/>
                <a:cs typeface="Menlo"/>
              </a:rPr>
              <a:t>HAS</a:t>
            </a:r>
          </a:p>
        </p:txBody>
      </p:sp>
      <p:sp>
        <p:nvSpPr>
          <p:cNvPr id="7" name="">
            <a:extLst xmlns:a="http://schemas.openxmlformats.org/drawingml/2006/main">
              <a:ext uri="{FF2B5EF4-FFF2-40B4-BE49-F238E27FC236}">
                <a16:creationId xmlns:a16="http://schemas.microsoft.com/office/drawing/2014/main" id="{741E26A6-DFB6-4E2B-A5FA-EA206564BCFF}"/>
              </a:ext>
            </a:extLst>
          </p:cNvPr>
          <p:cNvSpPr>
            <a:spLocks xmlns:a="http://schemas.openxmlformats.org/drawingml/2006/main" noGrp="1"/>
          </p:cNvSpPr>
          <p:nvPr/>
        </p:nvSpPr>
        <p:spPr>
          <a:xfrm xmlns:a="http://schemas.openxmlformats.org/drawingml/2006/main">
            <a:off x="6953250" y="2000250"/>
            <a:ext cx="1143000" cy="666750"/>
          </a:xfrm>
          <a:prstGeom xmlns:a="http://schemas.openxmlformats.org/drawingml/2006/main" prst="line">
            <a:avLst/>
          </a:prstGeom>
          <a:noFill xmlns:a="http://schemas.openxmlformats.org/drawingml/2006/main"/>
          <a:ln xmlns:a="http://schemas.openxmlformats.org/drawingml/2006/main" w="19050">
            <a:solidFill>
              <a:srgbClr val="2A3637"/>
            </a:solidFill>
          </a:ln>
        </p:spPr>
      </p:sp>
      <p:sp>
        <p:nvSpPr>
          <p:cNvPr id="8" name="">
            <a:extLst xmlns:a="http://schemas.openxmlformats.org/drawingml/2006/main">
              <a:ext uri="{FF2B5EF4-FFF2-40B4-BE49-F238E27FC236}">
                <a16:creationId xmlns:a16="http://schemas.microsoft.com/office/drawing/2014/main" id="{26A3E93B-07E3-4F9B-9C63-1C949300CD8D}"/>
              </a:ext>
            </a:extLst>
          </p:cNvPr>
          <p:cNvSpPr>
            <a:spLocks xmlns:a="http://schemas.openxmlformats.org/drawingml/2006/main" noGrp="1"/>
          </p:cNvSpPr>
          <p:nvPr/>
        </p:nvSpPr>
        <p:spPr>
          <a:xfrm xmlns:a="http://schemas.openxmlformats.org/drawingml/2006/main">
            <a:off x="7000875" y="22288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94A19E"/>
                </a:solidFill>
                <a:latin typeface="Menlo"/>
                <a:ea typeface="Menlo"/>
                <a:cs typeface="Menlo"/>
              </a:defRPr>
            </a:pPr>
            <a:r>
              <a:rPr sz="900" b="1">
                <a:solidFill>
                  <a:srgbClr val="94A19E"/>
                </a:solidFill>
                <a:latin typeface="Menlo"/>
                <a:ea typeface="Menlo"/>
                <a:cs typeface="Menlo"/>
              </a:rPr>
              <a:t>USES</a:t>
            </a:r>
          </a:p>
        </p:txBody>
      </p:sp>
      <p:sp>
        <p:nvSpPr>
          <p:cNvPr id="9" name="">
            <a:extLst xmlns:a="http://schemas.openxmlformats.org/drawingml/2006/main">
              <a:ext uri="{FF2B5EF4-FFF2-40B4-BE49-F238E27FC236}">
                <a16:creationId xmlns:a16="http://schemas.microsoft.com/office/drawing/2014/main" id="{8D176B4D-9ADA-4581-9F71-6BB167BD36A3}"/>
              </a:ext>
            </a:extLst>
          </p:cNvPr>
          <p:cNvSpPr>
            <a:spLocks xmlns:a="http://schemas.openxmlformats.org/drawingml/2006/main" noGrp="1"/>
          </p:cNvSpPr>
          <p:nvPr/>
        </p:nvSpPr>
        <p:spPr>
          <a:xfrm xmlns:a="http://schemas.openxmlformats.org/drawingml/2006/main">
            <a:off x="7239000" y="1724025"/>
            <a:ext cx="1857375" cy="95"/>
          </a:xfrm>
          <a:prstGeom xmlns:a="http://schemas.openxmlformats.org/drawingml/2006/main" prst="line">
            <a:avLst/>
          </a:prstGeom>
          <a:noFill xmlns:a="http://schemas.openxmlformats.org/drawingml/2006/main"/>
          <a:ln xmlns:a="http://schemas.openxmlformats.org/drawingml/2006/main" w="19050">
            <a:solidFill>
              <a:srgbClr val="2A3637"/>
            </a:solidFill>
          </a:ln>
        </p:spPr>
      </p:sp>
      <p:sp>
        <p:nvSpPr>
          <p:cNvPr id="10" name="">
            <a:extLst xmlns:a="http://schemas.openxmlformats.org/drawingml/2006/main">
              <a:ext uri="{FF2B5EF4-FFF2-40B4-BE49-F238E27FC236}">
                <a16:creationId xmlns:a16="http://schemas.microsoft.com/office/drawing/2014/main" id="{1F86E886-BEA9-4401-AFB3-017975E8581D}"/>
              </a:ext>
            </a:extLst>
          </p:cNvPr>
          <p:cNvSpPr>
            <a:spLocks xmlns:a="http://schemas.openxmlformats.org/drawingml/2006/main" noGrp="1"/>
          </p:cNvSpPr>
          <p:nvPr/>
        </p:nvSpPr>
        <p:spPr>
          <a:xfrm xmlns:a="http://schemas.openxmlformats.org/drawingml/2006/main">
            <a:off x="7620000" y="152400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94A19E"/>
                </a:solidFill>
                <a:latin typeface="Menlo"/>
                <a:ea typeface="Menlo"/>
                <a:cs typeface="Menlo"/>
              </a:defRPr>
            </a:pPr>
            <a:r>
              <a:rPr sz="900" b="1">
                <a:solidFill>
                  <a:srgbClr val="94A19E"/>
                </a:solidFill>
                <a:latin typeface="Menlo"/>
                <a:ea typeface="Menlo"/>
                <a:cs typeface="Menlo"/>
              </a:rPr>
              <a:t>TRACKS</a:t>
            </a:r>
          </a:p>
        </p:txBody>
      </p:sp>
      <p:sp>
        <p:nvSpPr>
          <p:cNvPr id="11" name="">
            <a:extLst xmlns:a="http://schemas.openxmlformats.org/drawingml/2006/main">
              <a:ext uri="{FF2B5EF4-FFF2-40B4-BE49-F238E27FC236}">
                <a16:creationId xmlns:a16="http://schemas.microsoft.com/office/drawing/2014/main" id="{1C4A7FAA-08AC-4952-B98A-954259DB05DD}"/>
              </a:ext>
            </a:extLst>
          </p:cNvPr>
          <p:cNvSpPr>
            <a:spLocks xmlns:a="http://schemas.openxmlformats.org/drawingml/2006/main" noGrp="1"/>
          </p:cNvSpPr>
          <p:nvPr/>
        </p:nvSpPr>
        <p:spPr>
          <a:xfrm xmlns:a="http://schemas.openxmlformats.org/drawingml/2006/main">
            <a:off x="3000375" y="3200400"/>
            <a:ext cx="857250" cy="895350"/>
          </a:xfrm>
          <a:prstGeom xmlns:a="http://schemas.openxmlformats.org/drawingml/2006/main" prst="line">
            <a:avLst/>
          </a:prstGeom>
          <a:noFill xmlns:a="http://schemas.openxmlformats.org/drawingml/2006/main"/>
          <a:ln xmlns:a="http://schemas.openxmlformats.org/drawingml/2006/main" w="19050">
            <a:solidFill>
              <a:srgbClr val="2A3637"/>
            </a:solidFill>
          </a:ln>
        </p:spPr>
      </p:sp>
      <p:sp>
        <p:nvSpPr>
          <p:cNvPr id="12" name="">
            <a:extLst xmlns:a="http://schemas.openxmlformats.org/drawingml/2006/main">
              <a:ext uri="{FF2B5EF4-FFF2-40B4-BE49-F238E27FC236}">
                <a16:creationId xmlns:a16="http://schemas.microsoft.com/office/drawing/2014/main" id="{EB530E23-FE1A-42B1-A769-2871F8668782}"/>
              </a:ext>
            </a:extLst>
          </p:cNvPr>
          <p:cNvSpPr>
            <a:spLocks xmlns:a="http://schemas.openxmlformats.org/drawingml/2006/main" noGrp="1"/>
          </p:cNvSpPr>
          <p:nvPr/>
        </p:nvSpPr>
        <p:spPr>
          <a:xfrm xmlns:a="http://schemas.openxmlformats.org/drawingml/2006/main">
            <a:off x="2476500" y="35623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94A19E"/>
                </a:solidFill>
                <a:latin typeface="Menlo"/>
                <a:ea typeface="Menlo"/>
                <a:cs typeface="Menlo"/>
              </a:defRPr>
            </a:pPr>
            <a:r>
              <a:rPr sz="900" b="1">
                <a:solidFill>
                  <a:srgbClr val="94A19E"/>
                </a:solidFill>
                <a:latin typeface="Menlo"/>
                <a:ea typeface="Menlo"/>
                <a:cs typeface="Menlo"/>
              </a:rPr>
              <a:t>CONTROLS</a:t>
            </a:r>
          </a:p>
        </p:txBody>
      </p:sp>
      <p:sp>
        <p:nvSpPr>
          <p:cNvPr id="13" name="">
            <a:extLst xmlns:a="http://schemas.openxmlformats.org/drawingml/2006/main">
              <a:ext uri="{FF2B5EF4-FFF2-40B4-BE49-F238E27FC236}">
                <a16:creationId xmlns:a16="http://schemas.microsoft.com/office/drawing/2014/main" id="{D08F5269-5D6D-4401-8F9D-798DBBCD1755}"/>
              </a:ext>
            </a:extLst>
          </p:cNvPr>
          <p:cNvSpPr>
            <a:spLocks xmlns:a="http://schemas.openxmlformats.org/drawingml/2006/main" noGrp="1"/>
          </p:cNvSpPr>
          <p:nvPr/>
        </p:nvSpPr>
        <p:spPr>
          <a:xfrm xmlns:a="http://schemas.openxmlformats.org/drawingml/2006/main">
            <a:off x="1857375" y="3200400"/>
            <a:ext cx="809625" cy="895350"/>
          </a:xfrm>
          <a:prstGeom xmlns:a="http://schemas.openxmlformats.org/drawingml/2006/main" prst="line">
            <a:avLst/>
          </a:prstGeom>
          <a:noFill xmlns:a="http://schemas.openxmlformats.org/drawingml/2006/main"/>
          <a:ln xmlns:a="http://schemas.openxmlformats.org/drawingml/2006/main" w="19050">
            <a:solidFill>
              <a:srgbClr val="2A3637"/>
            </a:solidFill>
          </a:ln>
        </p:spPr>
      </p:sp>
      <p:sp>
        <p:nvSpPr>
          <p:cNvPr id="14" name="">
            <a:extLst xmlns:a="http://schemas.openxmlformats.org/drawingml/2006/main">
              <a:ext uri="{FF2B5EF4-FFF2-40B4-BE49-F238E27FC236}">
                <a16:creationId xmlns:a16="http://schemas.microsoft.com/office/drawing/2014/main" id="{2D4C7FB9-5A67-47C1-84DC-FAA764040AD6}"/>
              </a:ext>
            </a:extLst>
          </p:cNvPr>
          <p:cNvSpPr>
            <a:spLocks xmlns:a="http://schemas.openxmlformats.org/drawingml/2006/main" noGrp="1"/>
          </p:cNvSpPr>
          <p:nvPr/>
        </p:nvSpPr>
        <p:spPr>
          <a:xfrm xmlns:a="http://schemas.openxmlformats.org/drawingml/2006/main">
            <a:off x="1524000" y="35623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94A19E"/>
                </a:solidFill>
                <a:latin typeface="Menlo"/>
                <a:ea typeface="Menlo"/>
                <a:cs typeface="Menlo"/>
              </a:defRPr>
            </a:pPr>
            <a:r>
              <a:rPr sz="900" b="1">
                <a:solidFill>
                  <a:srgbClr val="94A19E"/>
                </a:solidFill>
                <a:latin typeface="Menlo"/>
                <a:ea typeface="Menlo"/>
                <a:cs typeface="Menlo"/>
              </a:rPr>
              <a:t>CREATES</a:t>
            </a:r>
          </a:p>
        </p:txBody>
      </p:sp>
      <p:sp>
        <p:nvSpPr>
          <p:cNvPr id="15" name="">
            <a:extLst xmlns:a="http://schemas.openxmlformats.org/drawingml/2006/main">
              <a:ext uri="{FF2B5EF4-FFF2-40B4-BE49-F238E27FC236}">
                <a16:creationId xmlns:a16="http://schemas.microsoft.com/office/drawing/2014/main" id="{3F1554CA-03AB-40CA-9594-552A4671CE2D}"/>
              </a:ext>
            </a:extLst>
          </p:cNvPr>
          <p:cNvSpPr>
            <a:spLocks xmlns:a="http://schemas.openxmlformats.org/drawingml/2006/main" noGrp="1"/>
          </p:cNvSpPr>
          <p:nvPr/>
        </p:nvSpPr>
        <p:spPr>
          <a:xfrm xmlns:a="http://schemas.openxmlformats.org/drawingml/2006/main">
            <a:off x="1857375" y="4629150"/>
            <a:ext cx="95" cy="800100"/>
          </a:xfrm>
          <a:prstGeom xmlns:a="http://schemas.openxmlformats.org/drawingml/2006/main" prst="line">
            <a:avLst/>
          </a:prstGeom>
          <a:noFill xmlns:a="http://schemas.openxmlformats.org/drawingml/2006/main"/>
          <a:ln xmlns:a="http://schemas.openxmlformats.org/drawingml/2006/main" w="19050">
            <a:solidFill>
              <a:srgbClr val="2A3637"/>
            </a:solidFill>
          </a:ln>
        </p:spPr>
      </p:sp>
      <p:sp>
        <p:nvSpPr>
          <p:cNvPr id="16" name="">
            <a:extLst xmlns:a="http://schemas.openxmlformats.org/drawingml/2006/main">
              <a:ext uri="{FF2B5EF4-FFF2-40B4-BE49-F238E27FC236}">
                <a16:creationId xmlns:a16="http://schemas.microsoft.com/office/drawing/2014/main" id="{56867C45-99F4-42BA-BDF8-A2E1589D845E}"/>
              </a:ext>
            </a:extLst>
          </p:cNvPr>
          <p:cNvSpPr>
            <a:spLocks xmlns:a="http://schemas.openxmlformats.org/drawingml/2006/main" noGrp="1"/>
          </p:cNvSpPr>
          <p:nvPr/>
        </p:nvSpPr>
        <p:spPr>
          <a:xfrm xmlns:a="http://schemas.openxmlformats.org/drawingml/2006/main">
            <a:off x="1952625" y="49339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94A19E"/>
                </a:solidFill>
                <a:latin typeface="Menlo"/>
                <a:ea typeface="Menlo"/>
                <a:cs typeface="Menlo"/>
              </a:defRPr>
            </a:pPr>
            <a:r>
              <a:rPr sz="900" b="1">
                <a:solidFill>
                  <a:srgbClr val="94A19E"/>
                </a:solidFill>
                <a:latin typeface="Menlo"/>
                <a:ea typeface="Menlo"/>
                <a:cs typeface="Menlo"/>
              </a:rPr>
              <a:t>CONTAINS</a:t>
            </a:r>
          </a:p>
        </p:txBody>
      </p:sp>
      <p:sp>
        <p:nvSpPr>
          <p:cNvPr id="17" name="">
            <a:extLst xmlns:a="http://schemas.openxmlformats.org/drawingml/2006/main">
              <a:ext uri="{FF2B5EF4-FFF2-40B4-BE49-F238E27FC236}">
                <a16:creationId xmlns:a16="http://schemas.microsoft.com/office/drawing/2014/main" id="{56E88C73-333E-43FD-A83F-B27D286C59E7}"/>
              </a:ext>
            </a:extLst>
          </p:cNvPr>
          <p:cNvSpPr>
            <a:spLocks xmlns:a="http://schemas.openxmlformats.org/drawingml/2006/main" noGrp="1"/>
          </p:cNvSpPr>
          <p:nvPr/>
        </p:nvSpPr>
        <p:spPr>
          <a:xfrm xmlns:a="http://schemas.openxmlformats.org/drawingml/2006/main">
            <a:off x="4381500" y="4362450"/>
            <a:ext cx="2571750" cy="95"/>
          </a:xfrm>
          <a:prstGeom xmlns:a="http://schemas.openxmlformats.org/drawingml/2006/main" prst="line">
            <a:avLst/>
          </a:prstGeom>
          <a:noFill xmlns:a="http://schemas.openxmlformats.org/drawingml/2006/main"/>
          <a:ln xmlns:a="http://schemas.openxmlformats.org/drawingml/2006/main" w="19050">
            <a:solidFill>
              <a:srgbClr val="2A3637"/>
            </a:solidFill>
          </a:ln>
        </p:spPr>
      </p:sp>
      <p:sp>
        <p:nvSpPr>
          <p:cNvPr id="18" name="">
            <a:extLst xmlns:a="http://schemas.openxmlformats.org/drawingml/2006/main">
              <a:ext uri="{FF2B5EF4-FFF2-40B4-BE49-F238E27FC236}">
                <a16:creationId xmlns:a16="http://schemas.microsoft.com/office/drawing/2014/main" id="{1068F12C-41B0-42FD-B9DB-9F3BA0939370}"/>
              </a:ext>
            </a:extLst>
          </p:cNvPr>
          <p:cNvSpPr>
            <a:spLocks xmlns:a="http://schemas.openxmlformats.org/drawingml/2006/main" noGrp="1"/>
          </p:cNvSpPr>
          <p:nvPr/>
        </p:nvSpPr>
        <p:spPr>
          <a:xfrm xmlns:a="http://schemas.openxmlformats.org/drawingml/2006/main">
            <a:off x="5143500" y="41719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94A19E"/>
                </a:solidFill>
                <a:latin typeface="Menlo"/>
                <a:ea typeface="Menlo"/>
                <a:cs typeface="Menlo"/>
              </a:defRPr>
            </a:pPr>
            <a:r>
              <a:rPr sz="900" b="1">
                <a:solidFill>
                  <a:srgbClr val="94A19E"/>
                </a:solidFill>
                <a:latin typeface="Menlo"/>
                <a:ea typeface="Menlo"/>
                <a:cs typeface="Menlo"/>
              </a:rPr>
              <a:t>OCCUPIES</a:t>
            </a:r>
          </a:p>
        </p:txBody>
      </p:sp>
      <p:sp>
        <p:nvSpPr>
          <p:cNvPr id="19" name="">
            <a:extLst xmlns:a="http://schemas.openxmlformats.org/drawingml/2006/main">
              <a:ext uri="{FF2B5EF4-FFF2-40B4-BE49-F238E27FC236}">
                <a16:creationId xmlns:a16="http://schemas.microsoft.com/office/drawing/2014/main" id="{9FB372E8-F326-4CD9-9D12-FF03367907C2}"/>
              </a:ext>
            </a:extLst>
          </p:cNvPr>
          <p:cNvSpPr>
            <a:spLocks xmlns:a="http://schemas.openxmlformats.org/drawingml/2006/main" noGrp="1"/>
          </p:cNvSpPr>
          <p:nvPr/>
        </p:nvSpPr>
        <p:spPr>
          <a:xfrm xmlns:a="http://schemas.openxmlformats.org/drawingml/2006/main">
            <a:off x="7953375" y="3200400"/>
            <a:ext cx="285750" cy="895350"/>
          </a:xfrm>
          <a:prstGeom xmlns:a="http://schemas.openxmlformats.org/drawingml/2006/main" prst="line">
            <a:avLst/>
          </a:prstGeom>
          <a:noFill xmlns:a="http://schemas.openxmlformats.org/drawingml/2006/main"/>
          <a:ln xmlns:a="http://schemas.openxmlformats.org/drawingml/2006/main" w="19050">
            <a:solidFill>
              <a:srgbClr val="2A3637"/>
            </a:solidFill>
          </a:ln>
        </p:spPr>
      </p:sp>
      <p:sp>
        <p:nvSpPr>
          <p:cNvPr id="20" name="">
            <a:extLst xmlns:a="http://schemas.openxmlformats.org/drawingml/2006/main">
              <a:ext uri="{FF2B5EF4-FFF2-40B4-BE49-F238E27FC236}">
                <a16:creationId xmlns:a16="http://schemas.microsoft.com/office/drawing/2014/main" id="{19D4739D-CB21-4AE0-8622-C2487AE64564}"/>
              </a:ext>
            </a:extLst>
          </p:cNvPr>
          <p:cNvSpPr>
            <a:spLocks xmlns:a="http://schemas.openxmlformats.org/drawingml/2006/main" noGrp="1"/>
          </p:cNvSpPr>
          <p:nvPr/>
        </p:nvSpPr>
        <p:spPr>
          <a:xfrm xmlns:a="http://schemas.openxmlformats.org/drawingml/2006/main">
            <a:off x="8096250" y="35623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94A19E"/>
                </a:solidFill>
                <a:latin typeface="Menlo"/>
                <a:ea typeface="Menlo"/>
                <a:cs typeface="Menlo"/>
              </a:defRPr>
            </a:pPr>
            <a:r>
              <a:rPr sz="900" b="1">
                <a:solidFill>
                  <a:srgbClr val="94A19E"/>
                </a:solidFill>
                <a:latin typeface="Menlo"/>
                <a:ea typeface="Menlo"/>
                <a:cs typeface="Menlo"/>
              </a:rPr>
              <a:t>CONTAINS</a:t>
            </a:r>
          </a:p>
        </p:txBody>
      </p:sp>
      <p:sp>
        <p:nvSpPr>
          <p:cNvPr id="21" name="">
            <a:extLst xmlns:a="http://schemas.openxmlformats.org/drawingml/2006/main">
              <a:ext uri="{FF2B5EF4-FFF2-40B4-BE49-F238E27FC236}">
                <a16:creationId xmlns:a16="http://schemas.microsoft.com/office/drawing/2014/main" id="{CA7F8E85-8F62-4C37-980E-EDE61EFA9A67}"/>
              </a:ext>
            </a:extLst>
          </p:cNvPr>
          <p:cNvSpPr>
            <a:spLocks xmlns:a="http://schemas.openxmlformats.org/drawingml/2006/main" noGrp="1"/>
          </p:cNvSpPr>
          <p:nvPr/>
        </p:nvSpPr>
        <p:spPr>
          <a:xfrm xmlns:a="http://schemas.openxmlformats.org/drawingml/2006/main">
            <a:off x="7953375" y="4629150"/>
            <a:ext cx="2381250" cy="800100"/>
          </a:xfrm>
          <a:prstGeom xmlns:a="http://schemas.openxmlformats.org/drawingml/2006/main" prst="line">
            <a:avLst/>
          </a:prstGeom>
          <a:noFill xmlns:a="http://schemas.openxmlformats.org/drawingml/2006/main"/>
          <a:ln xmlns:a="http://schemas.openxmlformats.org/drawingml/2006/main" w="19050">
            <a:solidFill>
              <a:srgbClr val="2A3637"/>
            </a:solidFill>
          </a:ln>
        </p:spPr>
      </p:sp>
      <p:sp>
        <p:nvSpPr>
          <p:cNvPr id="22" name="">
            <a:extLst xmlns:a="http://schemas.openxmlformats.org/drawingml/2006/main">
              <a:ext uri="{FF2B5EF4-FFF2-40B4-BE49-F238E27FC236}">
                <a16:creationId xmlns:a16="http://schemas.microsoft.com/office/drawing/2014/main" id="{A0517D68-AD88-4652-8FF1-9053BD1AD482}"/>
              </a:ext>
            </a:extLst>
          </p:cNvPr>
          <p:cNvSpPr>
            <a:spLocks xmlns:a="http://schemas.openxmlformats.org/drawingml/2006/main" noGrp="1"/>
          </p:cNvSpPr>
          <p:nvPr/>
        </p:nvSpPr>
        <p:spPr>
          <a:xfrm xmlns:a="http://schemas.openxmlformats.org/drawingml/2006/main">
            <a:off x="8429625" y="49339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94A19E"/>
                </a:solidFill>
                <a:latin typeface="Menlo"/>
                <a:ea typeface="Menlo"/>
                <a:cs typeface="Menlo"/>
              </a:defRPr>
            </a:pPr>
            <a:r>
              <a:rPr sz="900" b="1">
                <a:solidFill>
                  <a:srgbClr val="94A19E"/>
                </a:solidFill>
                <a:latin typeface="Menlo"/>
                <a:ea typeface="Menlo"/>
                <a:cs typeface="Menlo"/>
              </a:rPr>
              <a:t>MAY CONTAIN</a:t>
            </a:r>
          </a:p>
        </p:txBody>
      </p:sp>
      <p:sp>
        <p:nvSpPr>
          <p:cNvPr id="23" name="">
            <a:extLst xmlns:a="http://schemas.openxmlformats.org/drawingml/2006/main">
              <a:ext uri="{FF2B5EF4-FFF2-40B4-BE49-F238E27FC236}">
                <a16:creationId xmlns:a16="http://schemas.microsoft.com/office/drawing/2014/main" id="{5AD8B9D4-8AB0-41D8-ACC0-08E3EC7FDE85}"/>
              </a:ext>
            </a:extLst>
          </p:cNvPr>
          <p:cNvSpPr>
            <a:spLocks xmlns:a="http://schemas.openxmlformats.org/drawingml/2006/main" noGrp="1"/>
          </p:cNvSpPr>
          <p:nvPr/>
        </p:nvSpPr>
        <p:spPr>
          <a:xfrm xmlns:a="http://schemas.openxmlformats.org/drawingml/2006/main">
            <a:off x="4953000" y="1447800"/>
            <a:ext cx="2286000" cy="552450"/>
          </a:xfrm>
          <a:prstGeom xmlns:a="http://schemas.openxmlformats.org/drawingml/2006/main" prst="roundRect">
            <a:avLst>
              <a:gd name="adj" fmla="val 13793"/>
            </a:avLst>
          </a:prstGeom>
          <a:solidFill xmlns:a="http://schemas.openxmlformats.org/drawingml/2006/main">
            <a:srgbClr val="182123"/>
          </a:solidFill>
          <a:ln xmlns:a="http://schemas.openxmlformats.org/drawingml/2006/main" w="19050">
            <a:solidFill>
              <a:srgbClr val="B6FF3B"/>
            </a:solidFill>
          </a:ln>
        </p:spPr>
      </p:sp>
      <p:sp>
        <p:nvSpPr>
          <p:cNvPr id="24" name="">
            <a:extLst xmlns:a="http://schemas.openxmlformats.org/drawingml/2006/main">
              <a:ext uri="{FF2B5EF4-FFF2-40B4-BE49-F238E27FC236}">
                <a16:creationId xmlns:a16="http://schemas.microsoft.com/office/drawing/2014/main" id="{0ADBF63C-6AF0-4DF8-82D9-A5A14C9E124D}"/>
              </a:ext>
            </a:extLst>
          </p:cNvPr>
          <p:cNvSpPr>
            <a:spLocks xmlns:a="http://schemas.openxmlformats.org/drawingml/2006/main" noGrp="1"/>
          </p:cNvSpPr>
          <p:nvPr/>
        </p:nvSpPr>
        <p:spPr>
          <a:xfrm xmlns:a="http://schemas.openxmlformats.org/drawingml/2006/main">
            <a:off x="5048250" y="152400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F1F5F2"/>
                </a:solidFill>
                <a:latin typeface="Menlo"/>
                <a:ea typeface="Menlo"/>
                <a:cs typeface="Menlo"/>
              </a:defRPr>
            </a:pPr>
            <a:r>
              <a:rPr sz="1275" b="1">
                <a:solidFill>
                  <a:srgbClr val="F1F5F2"/>
                </a:solidFill>
                <a:latin typeface="Menlo"/>
                <a:ea typeface="Menlo"/>
                <a:cs typeface="Menlo"/>
              </a:rPr>
              <a:t>GAME</a:t>
            </a:r>
          </a:p>
        </p:txBody>
      </p:sp>
      <p:sp>
        <p:nvSpPr>
          <p:cNvPr id="25" name="">
            <a:extLst xmlns:a="http://schemas.openxmlformats.org/drawingml/2006/main">
              <a:ext uri="{FF2B5EF4-FFF2-40B4-BE49-F238E27FC236}">
                <a16:creationId xmlns:a16="http://schemas.microsoft.com/office/drawing/2014/main" id="{6461E853-32C2-4ABB-8342-B454FA7631A6}"/>
              </a:ext>
            </a:extLst>
          </p:cNvPr>
          <p:cNvSpPr>
            <a:spLocks xmlns:a="http://schemas.openxmlformats.org/drawingml/2006/main" noGrp="1"/>
          </p:cNvSpPr>
          <p:nvPr/>
        </p:nvSpPr>
        <p:spPr>
          <a:xfrm xmlns:a="http://schemas.openxmlformats.org/drawingml/2006/main">
            <a:off x="2381250" y="2667000"/>
            <a:ext cx="2000250" cy="533400"/>
          </a:xfrm>
          <a:prstGeom xmlns:a="http://schemas.openxmlformats.org/drawingml/2006/main" prst="roundRect">
            <a:avLst>
              <a:gd name="adj" fmla="val 14286"/>
            </a:avLst>
          </a:prstGeom>
          <a:solidFill xmlns:a="http://schemas.openxmlformats.org/drawingml/2006/main">
            <a:srgbClr val="182123"/>
          </a:solidFill>
          <a:ln xmlns:a="http://schemas.openxmlformats.org/drawingml/2006/main" w="19050">
            <a:solidFill>
              <a:srgbClr val="45DDF4"/>
            </a:solidFill>
          </a:ln>
        </p:spPr>
      </p:sp>
      <p:sp>
        <p:nvSpPr>
          <p:cNvPr id="26" name="">
            <a:extLst xmlns:a="http://schemas.openxmlformats.org/drawingml/2006/main">
              <a:ext uri="{FF2B5EF4-FFF2-40B4-BE49-F238E27FC236}">
                <a16:creationId xmlns:a16="http://schemas.microsoft.com/office/drawing/2014/main" id="{1369CDE8-F2ED-4B6C-B46F-5A2FB8296A40}"/>
              </a:ext>
            </a:extLst>
          </p:cNvPr>
          <p:cNvSpPr>
            <a:spLocks xmlns:a="http://schemas.openxmlformats.org/drawingml/2006/main" noGrp="1"/>
          </p:cNvSpPr>
          <p:nvPr/>
        </p:nvSpPr>
        <p:spPr>
          <a:xfrm xmlns:a="http://schemas.openxmlformats.org/drawingml/2006/main">
            <a:off x="2476500" y="274320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F1F5F2"/>
                </a:solidFill>
                <a:latin typeface="Menlo"/>
                <a:ea typeface="Menlo"/>
                <a:cs typeface="Menlo"/>
              </a:defRPr>
            </a:pPr>
            <a:r>
              <a:rPr sz="1275" b="1">
                <a:solidFill>
                  <a:srgbClr val="F1F5F2"/>
                </a:solidFill>
                <a:latin typeface="Menlo"/>
                <a:ea typeface="Menlo"/>
                <a:cs typeface="Menlo"/>
              </a:rPr>
              <a:t>PLAYER</a:t>
            </a:r>
          </a:p>
        </p:txBody>
      </p:sp>
      <p:sp>
        <p:nvSpPr>
          <p:cNvPr id="27" name="">
            <a:extLst xmlns:a="http://schemas.openxmlformats.org/drawingml/2006/main">
              <a:ext uri="{FF2B5EF4-FFF2-40B4-BE49-F238E27FC236}">
                <a16:creationId xmlns:a16="http://schemas.microsoft.com/office/drawing/2014/main" id="{585B9A38-85EB-421D-A2FF-BB9A4E5D612B}"/>
              </a:ext>
            </a:extLst>
          </p:cNvPr>
          <p:cNvSpPr>
            <a:spLocks xmlns:a="http://schemas.openxmlformats.org/drawingml/2006/main" noGrp="1"/>
          </p:cNvSpPr>
          <p:nvPr/>
        </p:nvSpPr>
        <p:spPr>
          <a:xfrm xmlns:a="http://schemas.openxmlformats.org/drawingml/2006/main">
            <a:off x="7810500" y="2667000"/>
            <a:ext cx="2000250" cy="533400"/>
          </a:xfrm>
          <a:prstGeom xmlns:a="http://schemas.openxmlformats.org/drawingml/2006/main" prst="roundRect">
            <a:avLst>
              <a:gd name="adj" fmla="val 14286"/>
            </a:avLst>
          </a:prstGeom>
          <a:solidFill xmlns:a="http://schemas.openxmlformats.org/drawingml/2006/main">
            <a:srgbClr val="182123"/>
          </a:solidFill>
          <a:ln xmlns:a="http://schemas.openxmlformats.org/drawingml/2006/main" w="19050">
            <a:solidFill>
              <a:srgbClr val="FFC857"/>
            </a:solidFill>
          </a:ln>
        </p:spPr>
      </p:sp>
      <p:sp>
        <p:nvSpPr>
          <p:cNvPr id="28" name="">
            <a:extLst xmlns:a="http://schemas.openxmlformats.org/drawingml/2006/main">
              <a:ext uri="{FF2B5EF4-FFF2-40B4-BE49-F238E27FC236}">
                <a16:creationId xmlns:a16="http://schemas.microsoft.com/office/drawing/2014/main" id="{204AE69B-9F10-4AFA-AA83-968AFFCBA50F}"/>
              </a:ext>
            </a:extLst>
          </p:cNvPr>
          <p:cNvSpPr>
            <a:spLocks xmlns:a="http://schemas.openxmlformats.org/drawingml/2006/main" noGrp="1"/>
          </p:cNvSpPr>
          <p:nvPr/>
        </p:nvSpPr>
        <p:spPr>
          <a:xfrm xmlns:a="http://schemas.openxmlformats.org/drawingml/2006/main">
            <a:off x="7905750" y="274320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F1F5F2"/>
                </a:solidFill>
                <a:latin typeface="Menlo"/>
                <a:ea typeface="Menlo"/>
                <a:cs typeface="Menlo"/>
              </a:defRPr>
            </a:pPr>
            <a:r>
              <a:rPr sz="1275" b="1">
                <a:solidFill>
                  <a:srgbClr val="F1F5F2"/>
                </a:solidFill>
                <a:latin typeface="Menlo"/>
                <a:ea typeface="Menlo"/>
                <a:cs typeface="Menlo"/>
              </a:rPr>
              <a:t>BOARD</a:t>
            </a:r>
          </a:p>
        </p:txBody>
      </p:sp>
      <p:sp>
        <p:nvSpPr>
          <p:cNvPr id="29" name="">
            <a:extLst xmlns:a="http://schemas.openxmlformats.org/drawingml/2006/main">
              <a:ext uri="{FF2B5EF4-FFF2-40B4-BE49-F238E27FC236}">
                <a16:creationId xmlns:a16="http://schemas.microsoft.com/office/drawing/2014/main" id="{3FF407AA-4A73-41DC-8290-11227A79EA7D}"/>
              </a:ext>
            </a:extLst>
          </p:cNvPr>
          <p:cNvSpPr>
            <a:spLocks xmlns:a="http://schemas.openxmlformats.org/drawingml/2006/main" noGrp="1"/>
          </p:cNvSpPr>
          <p:nvPr/>
        </p:nvSpPr>
        <p:spPr>
          <a:xfrm xmlns:a="http://schemas.openxmlformats.org/drawingml/2006/main">
            <a:off x="9096375" y="1447800"/>
            <a:ext cx="2000250" cy="533400"/>
          </a:xfrm>
          <a:prstGeom xmlns:a="http://schemas.openxmlformats.org/drawingml/2006/main" prst="roundRect">
            <a:avLst>
              <a:gd name="adj" fmla="val 14286"/>
            </a:avLst>
          </a:prstGeom>
          <a:solidFill xmlns:a="http://schemas.openxmlformats.org/drawingml/2006/main">
            <a:srgbClr val="182123"/>
          </a:solidFill>
          <a:ln xmlns:a="http://schemas.openxmlformats.org/drawingml/2006/main" w="19050">
            <a:solidFill>
              <a:srgbClr val="FF5C66"/>
            </a:solidFill>
          </a:ln>
        </p:spPr>
      </p:sp>
      <p:sp>
        <p:nvSpPr>
          <p:cNvPr id="30" name="">
            <a:extLst xmlns:a="http://schemas.openxmlformats.org/drawingml/2006/main">
              <a:ext uri="{FF2B5EF4-FFF2-40B4-BE49-F238E27FC236}">
                <a16:creationId xmlns:a16="http://schemas.microsoft.com/office/drawing/2014/main" id="{5FD3215A-3C00-4F7A-89E9-34D82406E287}"/>
              </a:ext>
            </a:extLst>
          </p:cNvPr>
          <p:cNvSpPr>
            <a:spLocks xmlns:a="http://schemas.openxmlformats.org/drawingml/2006/main" noGrp="1"/>
          </p:cNvSpPr>
          <p:nvPr/>
        </p:nvSpPr>
        <p:spPr>
          <a:xfrm xmlns:a="http://schemas.openxmlformats.org/drawingml/2006/main">
            <a:off x="9191625" y="152400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F1F5F2"/>
                </a:solidFill>
                <a:latin typeface="Menlo"/>
                <a:ea typeface="Menlo"/>
                <a:cs typeface="Menlo"/>
              </a:defRPr>
            </a:pPr>
            <a:r>
              <a:rPr sz="1275" b="1">
                <a:solidFill>
                  <a:srgbClr val="F1F5F2"/>
                </a:solidFill>
                <a:latin typeface="Menlo"/>
                <a:ea typeface="Menlo"/>
                <a:cs typeface="Menlo"/>
              </a:rPr>
              <a:t>ROUND / PHASE</a:t>
            </a:r>
          </a:p>
        </p:txBody>
      </p:sp>
      <p:sp>
        <p:nvSpPr>
          <p:cNvPr id="31" name="">
            <a:extLst xmlns:a="http://schemas.openxmlformats.org/drawingml/2006/main">
              <a:ext uri="{FF2B5EF4-FFF2-40B4-BE49-F238E27FC236}">
                <a16:creationId xmlns:a16="http://schemas.microsoft.com/office/drawing/2014/main" id="{5AA744CC-9EBA-43D6-B650-D4D3A9AD20B6}"/>
              </a:ext>
            </a:extLst>
          </p:cNvPr>
          <p:cNvSpPr>
            <a:spLocks xmlns:a="http://schemas.openxmlformats.org/drawingml/2006/main" noGrp="1"/>
          </p:cNvSpPr>
          <p:nvPr/>
        </p:nvSpPr>
        <p:spPr>
          <a:xfrm xmlns:a="http://schemas.openxmlformats.org/drawingml/2006/main">
            <a:off x="857250" y="4095750"/>
            <a:ext cx="2000250" cy="533400"/>
          </a:xfrm>
          <a:prstGeom xmlns:a="http://schemas.openxmlformats.org/drawingml/2006/main" prst="roundRect">
            <a:avLst>
              <a:gd name="adj" fmla="val 14286"/>
            </a:avLst>
          </a:prstGeom>
          <a:solidFill xmlns:a="http://schemas.openxmlformats.org/drawingml/2006/main">
            <a:srgbClr val="182123"/>
          </a:solidFill>
          <a:ln xmlns:a="http://schemas.openxmlformats.org/drawingml/2006/main" w="19050">
            <a:solidFill>
              <a:srgbClr val="B6FF3B"/>
            </a:solidFill>
          </a:ln>
        </p:spPr>
      </p:sp>
      <p:sp>
        <p:nvSpPr>
          <p:cNvPr id="32" name="">
            <a:extLst xmlns:a="http://schemas.openxmlformats.org/drawingml/2006/main">
              <a:ext uri="{FF2B5EF4-FFF2-40B4-BE49-F238E27FC236}">
                <a16:creationId xmlns:a16="http://schemas.microsoft.com/office/drawing/2014/main" id="{383B6102-9CB2-49EB-83A8-9DB9A701FCF8}"/>
              </a:ext>
            </a:extLst>
          </p:cNvPr>
          <p:cNvSpPr>
            <a:spLocks xmlns:a="http://schemas.openxmlformats.org/drawingml/2006/main" noGrp="1"/>
          </p:cNvSpPr>
          <p:nvPr/>
        </p:nvSpPr>
        <p:spPr>
          <a:xfrm xmlns:a="http://schemas.openxmlformats.org/drawingml/2006/main">
            <a:off x="952500" y="41719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F1F5F2"/>
                </a:solidFill>
                <a:latin typeface="Menlo"/>
                <a:ea typeface="Menlo"/>
                <a:cs typeface="Menlo"/>
              </a:defRPr>
            </a:pPr>
            <a:r>
              <a:rPr sz="1275" b="1">
                <a:solidFill>
                  <a:srgbClr val="F1F5F2"/>
                </a:solidFill>
                <a:latin typeface="Menlo"/>
                <a:ea typeface="Menlo"/>
                <a:cs typeface="Menlo"/>
              </a:rPr>
              <a:t>PROGRAM</a:t>
            </a:r>
          </a:p>
        </p:txBody>
      </p:sp>
      <p:sp>
        <p:nvSpPr>
          <p:cNvPr id="33" name="">
            <a:extLst xmlns:a="http://schemas.openxmlformats.org/drawingml/2006/main">
              <a:ext uri="{FF2B5EF4-FFF2-40B4-BE49-F238E27FC236}">
                <a16:creationId xmlns:a16="http://schemas.microsoft.com/office/drawing/2014/main" id="{06705017-D47B-41D7-BEA3-4B449CA9F240}"/>
              </a:ext>
            </a:extLst>
          </p:cNvPr>
          <p:cNvSpPr>
            <a:spLocks xmlns:a="http://schemas.openxmlformats.org/drawingml/2006/main" noGrp="1"/>
          </p:cNvSpPr>
          <p:nvPr/>
        </p:nvSpPr>
        <p:spPr>
          <a:xfrm xmlns:a="http://schemas.openxmlformats.org/drawingml/2006/main">
            <a:off x="3238500" y="4095750"/>
            <a:ext cx="2000250" cy="533400"/>
          </a:xfrm>
          <a:prstGeom xmlns:a="http://schemas.openxmlformats.org/drawingml/2006/main" prst="roundRect">
            <a:avLst>
              <a:gd name="adj" fmla="val 14286"/>
            </a:avLst>
          </a:prstGeom>
          <a:solidFill xmlns:a="http://schemas.openxmlformats.org/drawingml/2006/main">
            <a:srgbClr val="182123"/>
          </a:solidFill>
          <a:ln xmlns:a="http://schemas.openxmlformats.org/drawingml/2006/main" w="19050">
            <a:solidFill>
              <a:srgbClr val="45DDF4"/>
            </a:solidFill>
          </a:ln>
        </p:spPr>
      </p:sp>
      <p:sp>
        <p:nvSpPr>
          <p:cNvPr id="34" name="">
            <a:extLst xmlns:a="http://schemas.openxmlformats.org/drawingml/2006/main">
              <a:ext uri="{FF2B5EF4-FFF2-40B4-BE49-F238E27FC236}">
                <a16:creationId xmlns:a16="http://schemas.microsoft.com/office/drawing/2014/main" id="{21F71854-B8E3-4CE8-965C-608AF1C5FF0D}"/>
              </a:ext>
            </a:extLst>
          </p:cNvPr>
          <p:cNvSpPr>
            <a:spLocks xmlns:a="http://schemas.openxmlformats.org/drawingml/2006/main" noGrp="1"/>
          </p:cNvSpPr>
          <p:nvPr/>
        </p:nvSpPr>
        <p:spPr>
          <a:xfrm xmlns:a="http://schemas.openxmlformats.org/drawingml/2006/main">
            <a:off x="3333750" y="41719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F1F5F2"/>
                </a:solidFill>
                <a:latin typeface="Menlo"/>
                <a:ea typeface="Menlo"/>
                <a:cs typeface="Menlo"/>
              </a:defRPr>
            </a:pPr>
            <a:r>
              <a:rPr sz="1275" b="1">
                <a:solidFill>
                  <a:srgbClr val="F1F5F2"/>
                </a:solidFill>
                <a:latin typeface="Menlo"/>
                <a:ea typeface="Menlo"/>
                <a:cs typeface="Menlo"/>
              </a:rPr>
              <a:t>ROBOT</a:t>
            </a:r>
          </a:p>
        </p:txBody>
      </p:sp>
      <p:sp>
        <p:nvSpPr>
          <p:cNvPr id="35" name="">
            <a:extLst xmlns:a="http://schemas.openxmlformats.org/drawingml/2006/main">
              <a:ext uri="{FF2B5EF4-FFF2-40B4-BE49-F238E27FC236}">
                <a16:creationId xmlns:a16="http://schemas.microsoft.com/office/drawing/2014/main" id="{BF60035C-731E-4226-814B-06466AE4B501}"/>
              </a:ext>
            </a:extLst>
          </p:cNvPr>
          <p:cNvSpPr>
            <a:spLocks xmlns:a="http://schemas.openxmlformats.org/drawingml/2006/main" noGrp="1"/>
          </p:cNvSpPr>
          <p:nvPr/>
        </p:nvSpPr>
        <p:spPr>
          <a:xfrm xmlns:a="http://schemas.openxmlformats.org/drawingml/2006/main">
            <a:off x="6953250" y="4095750"/>
            <a:ext cx="2000250" cy="533400"/>
          </a:xfrm>
          <a:prstGeom xmlns:a="http://schemas.openxmlformats.org/drawingml/2006/main" prst="roundRect">
            <a:avLst>
              <a:gd name="adj" fmla="val 14286"/>
            </a:avLst>
          </a:prstGeom>
          <a:solidFill xmlns:a="http://schemas.openxmlformats.org/drawingml/2006/main">
            <a:srgbClr val="182123"/>
          </a:solidFill>
          <a:ln xmlns:a="http://schemas.openxmlformats.org/drawingml/2006/main" w="19050">
            <a:solidFill>
              <a:srgbClr val="FFC857"/>
            </a:solidFill>
          </a:ln>
        </p:spPr>
      </p:sp>
      <p:sp>
        <p:nvSpPr>
          <p:cNvPr id="36" name="">
            <a:extLst xmlns:a="http://schemas.openxmlformats.org/drawingml/2006/main">
              <a:ext uri="{FF2B5EF4-FFF2-40B4-BE49-F238E27FC236}">
                <a16:creationId xmlns:a16="http://schemas.microsoft.com/office/drawing/2014/main" id="{C407C384-39C2-4CC8-9DE6-2112D6683056}"/>
              </a:ext>
            </a:extLst>
          </p:cNvPr>
          <p:cNvSpPr>
            <a:spLocks xmlns:a="http://schemas.openxmlformats.org/drawingml/2006/main" noGrp="1"/>
          </p:cNvSpPr>
          <p:nvPr/>
        </p:nvSpPr>
        <p:spPr>
          <a:xfrm xmlns:a="http://schemas.openxmlformats.org/drawingml/2006/main">
            <a:off x="7048500" y="41719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F1F5F2"/>
                </a:solidFill>
                <a:latin typeface="Menlo"/>
                <a:ea typeface="Menlo"/>
                <a:cs typeface="Menlo"/>
              </a:defRPr>
            </a:pPr>
            <a:r>
              <a:rPr sz="1275" b="1">
                <a:solidFill>
                  <a:srgbClr val="F1F5F2"/>
                </a:solidFill>
                <a:latin typeface="Menlo"/>
                <a:ea typeface="Menlo"/>
                <a:cs typeface="Menlo"/>
              </a:rPr>
              <a:t>TILE</a:t>
            </a:r>
          </a:p>
        </p:txBody>
      </p:sp>
      <p:sp>
        <p:nvSpPr>
          <p:cNvPr id="37" name="">
            <a:extLst xmlns:a="http://schemas.openxmlformats.org/drawingml/2006/main">
              <a:ext uri="{FF2B5EF4-FFF2-40B4-BE49-F238E27FC236}">
                <a16:creationId xmlns:a16="http://schemas.microsoft.com/office/drawing/2014/main" id="{C8B6CEA0-1FA2-41FB-8124-824D036A62BE}"/>
              </a:ext>
            </a:extLst>
          </p:cNvPr>
          <p:cNvSpPr>
            <a:spLocks xmlns:a="http://schemas.openxmlformats.org/drawingml/2006/main" noGrp="1"/>
          </p:cNvSpPr>
          <p:nvPr/>
        </p:nvSpPr>
        <p:spPr>
          <a:xfrm xmlns:a="http://schemas.openxmlformats.org/drawingml/2006/main">
            <a:off x="857250" y="5429250"/>
            <a:ext cx="2000250" cy="533400"/>
          </a:xfrm>
          <a:prstGeom xmlns:a="http://schemas.openxmlformats.org/drawingml/2006/main" prst="roundRect">
            <a:avLst>
              <a:gd name="adj" fmla="val 14286"/>
            </a:avLst>
          </a:prstGeom>
          <a:solidFill xmlns:a="http://schemas.openxmlformats.org/drawingml/2006/main">
            <a:srgbClr val="182123"/>
          </a:solidFill>
          <a:ln xmlns:a="http://schemas.openxmlformats.org/drawingml/2006/main" w="19050">
            <a:solidFill>
              <a:srgbClr val="B6FF3B"/>
            </a:solidFill>
          </a:ln>
        </p:spPr>
      </p:sp>
      <p:sp>
        <p:nvSpPr>
          <p:cNvPr id="38" name="">
            <a:extLst xmlns:a="http://schemas.openxmlformats.org/drawingml/2006/main">
              <a:ext uri="{FF2B5EF4-FFF2-40B4-BE49-F238E27FC236}">
                <a16:creationId xmlns:a16="http://schemas.microsoft.com/office/drawing/2014/main" id="{83F0548F-B034-4126-842F-1F8FBFD87277}"/>
              </a:ext>
            </a:extLst>
          </p:cNvPr>
          <p:cNvSpPr>
            <a:spLocks xmlns:a="http://schemas.openxmlformats.org/drawingml/2006/main" noGrp="1"/>
          </p:cNvSpPr>
          <p:nvPr/>
        </p:nvSpPr>
        <p:spPr>
          <a:xfrm xmlns:a="http://schemas.openxmlformats.org/drawingml/2006/main">
            <a:off x="952500" y="55054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F1F5F2"/>
                </a:solidFill>
                <a:latin typeface="Menlo"/>
                <a:ea typeface="Menlo"/>
                <a:cs typeface="Menlo"/>
              </a:defRPr>
            </a:pPr>
            <a:r>
              <a:rPr sz="1275" b="1">
                <a:solidFill>
                  <a:srgbClr val="F1F5F2"/>
                </a:solidFill>
                <a:latin typeface="Menlo"/>
                <a:ea typeface="Menlo"/>
                <a:cs typeface="Menlo"/>
              </a:rPr>
              <a:t>ACTION CARD</a:t>
            </a:r>
          </a:p>
        </p:txBody>
      </p:sp>
      <p:sp>
        <p:nvSpPr>
          <p:cNvPr id="39" name="">
            <a:extLst xmlns:a="http://schemas.openxmlformats.org/drawingml/2006/main">
              <a:ext uri="{FF2B5EF4-FFF2-40B4-BE49-F238E27FC236}">
                <a16:creationId xmlns:a16="http://schemas.microsoft.com/office/drawing/2014/main" id="{43471AF3-0C4E-466C-8B9B-8C11BA80409F}"/>
              </a:ext>
            </a:extLst>
          </p:cNvPr>
          <p:cNvSpPr>
            <a:spLocks xmlns:a="http://schemas.openxmlformats.org/drawingml/2006/main" noGrp="1"/>
          </p:cNvSpPr>
          <p:nvPr/>
        </p:nvSpPr>
        <p:spPr>
          <a:xfrm xmlns:a="http://schemas.openxmlformats.org/drawingml/2006/main">
            <a:off x="9334500" y="5429250"/>
            <a:ext cx="2000250" cy="533400"/>
          </a:xfrm>
          <a:prstGeom xmlns:a="http://schemas.openxmlformats.org/drawingml/2006/main" prst="roundRect">
            <a:avLst>
              <a:gd name="adj" fmla="val 14286"/>
            </a:avLst>
          </a:prstGeom>
          <a:solidFill xmlns:a="http://schemas.openxmlformats.org/drawingml/2006/main">
            <a:srgbClr val="182123"/>
          </a:solidFill>
          <a:ln xmlns:a="http://schemas.openxmlformats.org/drawingml/2006/main" w="19050">
            <a:solidFill>
              <a:srgbClr val="FFC857"/>
            </a:solidFill>
          </a:ln>
        </p:spPr>
      </p:sp>
      <p:sp>
        <p:nvSpPr>
          <p:cNvPr id="40" name="">
            <a:extLst xmlns:a="http://schemas.openxmlformats.org/drawingml/2006/main">
              <a:ext uri="{FF2B5EF4-FFF2-40B4-BE49-F238E27FC236}">
                <a16:creationId xmlns:a16="http://schemas.microsoft.com/office/drawing/2014/main" id="{817ACFE8-CB2B-468F-8620-DE77D44D5501}"/>
              </a:ext>
            </a:extLst>
          </p:cNvPr>
          <p:cNvSpPr>
            <a:spLocks xmlns:a="http://schemas.openxmlformats.org/drawingml/2006/main" noGrp="1"/>
          </p:cNvSpPr>
          <p:nvPr/>
        </p:nvSpPr>
        <p:spPr>
          <a:xfrm xmlns:a="http://schemas.openxmlformats.org/drawingml/2006/main">
            <a:off x="9429750" y="55054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F1F5F2"/>
                </a:solidFill>
                <a:latin typeface="Menlo"/>
                <a:ea typeface="Menlo"/>
                <a:cs typeface="Menlo"/>
              </a:defRPr>
            </a:pPr>
            <a:r>
              <a:rPr sz="1275" b="1">
                <a:solidFill>
                  <a:srgbClr val="F1F5F2"/>
                </a:solidFill>
                <a:latin typeface="Menlo"/>
                <a:ea typeface="Menlo"/>
                <a:cs typeface="Menlo"/>
              </a:rPr>
              <a:t>BOARD ELEMENT</a:t>
            </a:r>
          </a:p>
        </p:txBody>
      </p:sp>
    </p:spTree>
    <p:extLst>
      <p:ext uri="{BB962C8B-B14F-4D97-AF65-F5344CB8AC3E}">
        <p14:creationId xmlns:p14="http://schemas.microsoft.com/office/powerpoint/2010/main" val="400507666"/>
      </p:ext>
    </p:extLst>
  </p:cSld>
</p:sld>
</file>

<file path=ppt/slides/slide10.xml><?xml version="1.0" encoding="utf-8"?>
<p:sld xmlns:p="http://schemas.openxmlformats.org/presentationml/2006/main">
  <p:cSld>
    <p:bg>
      <p:bgPr>
        <a:solidFill xmlns:a="http://schemas.openxmlformats.org/drawingml/2006/main">
          <a:srgbClr val="090E0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9629CD9-AFB3-4B59-946B-858C37F88D85}"/>
              </a:ext>
            </a:extLst>
          </p:cNvPr>
          <p:cNvSpPr>
            <a:spLocks xmlns:a="http://schemas.openxmlformats.org/drawingml/2006/main" noGrp="1"/>
          </p:cNvSpPr>
          <p:nvPr/>
        </p:nvSpPr>
        <p:spPr>
          <a:xfrm xmlns:a="http://schemas.openxmlformats.org/drawingml/2006/main">
            <a:off x="533400" y="2667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B6FF3B"/>
                </a:solidFill>
                <a:latin typeface="Menlo"/>
                <a:ea typeface="Menlo"/>
                <a:cs typeface="Menlo"/>
              </a:defRPr>
            </a:pPr>
            <a:r>
              <a:rPr sz="975" b="1">
                <a:solidFill>
                  <a:srgbClr val="B6FF3B"/>
                </a:solidFill>
                <a:latin typeface="Menlo"/>
                <a:ea typeface="Menlo"/>
                <a:cs typeface="Menlo"/>
              </a:rPr>
              <a:t>SYS::RR-02162</a:t>
            </a:r>
          </a:p>
        </p:txBody>
      </p:sp>
      <p:sp>
        <p:nvSpPr>
          <p:cNvPr id="2" name="">
            <a:extLst xmlns:a="http://schemas.openxmlformats.org/drawingml/2006/main">
              <a:ext uri="{FF2B5EF4-FFF2-40B4-BE49-F238E27FC236}">
                <a16:creationId xmlns:a16="http://schemas.microsoft.com/office/drawing/2014/main" id="{23773536-FC2A-492E-B89B-1E6F5982D532}"/>
              </a:ext>
            </a:extLst>
          </p:cNvPr>
          <p:cNvSpPr>
            <a:spLocks xmlns:a="http://schemas.openxmlformats.org/drawingml/2006/main" noGrp="1"/>
          </p:cNvSpPr>
          <p:nvPr/>
        </p:nvSpPr>
        <p:spPr>
          <a:xfrm xmlns:a="http://schemas.openxmlformats.org/drawingml/2006/main">
            <a:off x="11125200" y="2667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94A19E"/>
                </a:solidFill>
                <a:latin typeface="Menlo"/>
                <a:ea typeface="Menlo"/>
                <a:cs typeface="Menlo"/>
              </a:defRPr>
            </a:pPr>
            <a:r>
              <a:rPr sz="975" b="1">
                <a:solidFill>
                  <a:srgbClr val="94A19E"/>
                </a:solidFill>
                <a:latin typeface="Menlo"/>
                <a:ea typeface="Menlo"/>
                <a:cs typeface="Menlo"/>
              </a:rPr>
              <a:t>10</a:t>
            </a:r>
          </a:p>
        </p:txBody>
      </p:sp>
      <p:sp>
        <p:nvSpPr>
          <p:cNvPr id="3" name="">
            <a:extLst xmlns:a="http://schemas.openxmlformats.org/drawingml/2006/main">
              <a:ext uri="{FF2B5EF4-FFF2-40B4-BE49-F238E27FC236}">
                <a16:creationId xmlns:a16="http://schemas.microsoft.com/office/drawing/2014/main" id="{5BE70DDA-4BFD-43E1-ADAA-3E63830C988C}"/>
              </a:ext>
            </a:extLst>
          </p:cNvPr>
          <p:cNvSpPr>
            <a:spLocks xmlns:a="http://schemas.openxmlformats.org/drawingml/2006/main" noGrp="1"/>
          </p:cNvSpPr>
          <p:nvPr/>
        </p:nvSpPr>
        <p:spPr>
          <a:xfrm xmlns:a="http://schemas.openxmlformats.org/drawingml/2006/main">
            <a:off x="533400" y="581025"/>
            <a:ext cx="111252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4" name="">
            <a:extLst xmlns:a="http://schemas.openxmlformats.org/drawingml/2006/main">
              <a:ext uri="{FF2B5EF4-FFF2-40B4-BE49-F238E27FC236}">
                <a16:creationId xmlns:a16="http://schemas.microsoft.com/office/drawing/2014/main" id="{B180395A-511C-42CF-9B82-F945E31BA17B}"/>
              </a:ext>
            </a:extLst>
          </p:cNvPr>
          <p:cNvSpPr>
            <a:spLocks xmlns:a="http://schemas.openxmlformats.org/drawingml/2006/main" noGrp="1"/>
          </p:cNvSpPr>
          <p:nvPr/>
        </p:nvSpPr>
        <p:spPr>
          <a:xfrm xmlns:a="http://schemas.openxmlformats.org/drawingml/2006/main">
            <a:off x="533400" y="74295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F1F5F2"/>
                </a:solidFill>
                <a:latin typeface="Roboto"/>
                <a:ea typeface="Roboto"/>
                <a:cs typeface="Roboto"/>
              </a:defRPr>
            </a:pPr>
            <a:r>
              <a:rPr sz="2700" b="1">
                <a:solidFill>
                  <a:srgbClr val="F1F5F2"/>
                </a:solidFill>
                <a:latin typeface="Roboto"/>
                <a:ea typeface="Roboto"/>
                <a:cs typeface="Roboto"/>
              </a:rPr>
              <a:t>Release 1 success</a:t>
            </a:r>
          </a:p>
        </p:txBody>
      </p:sp>
      <p:sp>
        <p:nvSpPr>
          <p:cNvPr id="5" name="">
            <a:extLst xmlns:a="http://schemas.openxmlformats.org/drawingml/2006/main">
              <a:ext uri="{FF2B5EF4-FFF2-40B4-BE49-F238E27FC236}">
                <a16:creationId xmlns:a16="http://schemas.microsoft.com/office/drawing/2014/main" id="{0D136E7D-FB7F-4688-AABD-3F81B1F54082}"/>
              </a:ext>
            </a:extLst>
          </p:cNvPr>
          <p:cNvSpPr>
            <a:spLocks xmlns:a="http://schemas.openxmlformats.org/drawingml/2006/main" noGrp="1"/>
          </p:cNvSpPr>
          <p:nvPr/>
        </p:nvSpPr>
        <p:spPr>
          <a:xfrm xmlns:a="http://schemas.openxmlformats.org/drawingml/2006/main">
            <a:off x="533400" y="1504950"/>
            <a:ext cx="1047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F1F5F2"/>
                </a:solidFill>
                <a:latin typeface="Roboto"/>
                <a:ea typeface="Roboto"/>
                <a:cs typeface="Roboto"/>
              </a:defRPr>
            </a:pPr>
            <a:r>
              <a:rPr sz="3150" b="1">
                <a:solidFill>
                  <a:srgbClr val="F1F5F2"/>
                </a:solidFill>
                <a:latin typeface="Roboto"/>
                <a:ea typeface="Roboto"/>
                <a:cs typeface="Roboto"/>
              </a:rPr>
              <a:t>A complete round runs from card selection to a synchronized result without manual rule checking.</a:t>
            </a:r>
          </a:p>
        </p:txBody>
      </p:sp>
      <p:sp>
        <p:nvSpPr>
          <p:cNvPr id="6" name="">
            <a:extLst xmlns:a="http://schemas.openxmlformats.org/drawingml/2006/main">
              <a:ext uri="{FF2B5EF4-FFF2-40B4-BE49-F238E27FC236}">
                <a16:creationId xmlns:a16="http://schemas.microsoft.com/office/drawing/2014/main" id="{04FAD773-17FA-4B65-A24D-9886093ED4C8}"/>
              </a:ext>
            </a:extLst>
          </p:cNvPr>
          <p:cNvSpPr>
            <a:spLocks xmlns:a="http://schemas.openxmlformats.org/drawingml/2006/main" noGrp="1"/>
          </p:cNvSpPr>
          <p:nvPr/>
        </p:nvSpPr>
        <p:spPr>
          <a:xfrm xmlns:a="http://schemas.openxmlformats.org/drawingml/2006/main">
            <a:off x="533400" y="3257550"/>
            <a:ext cx="111252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7" name="">
            <a:extLst xmlns:a="http://schemas.openxmlformats.org/drawingml/2006/main">
              <a:ext uri="{FF2B5EF4-FFF2-40B4-BE49-F238E27FC236}">
                <a16:creationId xmlns:a16="http://schemas.microsoft.com/office/drawing/2014/main" id="{7AF038A7-43D4-4067-A841-160E3D38C1E6}"/>
              </a:ext>
            </a:extLst>
          </p:cNvPr>
          <p:cNvSpPr>
            <a:spLocks xmlns:a="http://schemas.openxmlformats.org/drawingml/2006/main" noGrp="1"/>
          </p:cNvSpPr>
          <p:nvPr/>
        </p:nvSpPr>
        <p:spPr>
          <a:xfrm xmlns:a="http://schemas.openxmlformats.org/drawingml/2006/main">
            <a:off x="533400" y="3638550"/>
            <a:ext cx="247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45DDF4"/>
                </a:solidFill>
                <a:latin typeface="Menlo"/>
                <a:ea typeface="Menlo"/>
                <a:cs typeface="Menlo"/>
              </a:defRPr>
            </a:pPr>
            <a:r>
              <a:rPr sz="1350" b="1">
                <a:solidFill>
                  <a:srgbClr val="45DDF4"/>
                </a:solidFill>
                <a:latin typeface="Menlo"/>
                <a:ea typeface="Menlo"/>
                <a:cs typeface="Menlo"/>
              </a:rPr>
              <a:t>READABLE</a:t>
            </a:r>
          </a:p>
        </p:txBody>
      </p:sp>
      <p:sp>
        <p:nvSpPr>
          <p:cNvPr id="8" name="">
            <a:extLst xmlns:a="http://schemas.openxmlformats.org/drawingml/2006/main">
              <a:ext uri="{FF2B5EF4-FFF2-40B4-BE49-F238E27FC236}">
                <a16:creationId xmlns:a16="http://schemas.microsoft.com/office/drawing/2014/main" id="{39841403-82BF-4417-914E-9032C3726EEE}"/>
              </a:ext>
            </a:extLst>
          </p:cNvPr>
          <p:cNvSpPr>
            <a:spLocks xmlns:a="http://schemas.openxmlformats.org/drawingml/2006/main" noGrp="1"/>
          </p:cNvSpPr>
          <p:nvPr/>
        </p:nvSpPr>
        <p:spPr>
          <a:xfrm xmlns:a="http://schemas.openxmlformats.org/drawingml/2006/main">
            <a:off x="533400" y="4057650"/>
            <a:ext cx="476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94A19E"/>
                </a:solidFill>
                <a:latin typeface="Roboto"/>
                <a:ea typeface="Roboto"/>
                <a:cs typeface="Roboto"/>
              </a:defRPr>
            </a:pPr>
            <a:r>
              <a:rPr sz="1650" b="0">
                <a:solidFill>
                  <a:srgbClr val="94A19E"/>
                </a:solidFill>
                <a:latin typeface="Roboto"/>
                <a:ea typeface="Roboto"/>
                <a:cs typeface="Roboto"/>
              </a:rPr>
              <a:t>Players understand positions, directions and the current phase.</a:t>
            </a:r>
          </a:p>
        </p:txBody>
      </p:sp>
      <p:sp>
        <p:nvSpPr>
          <p:cNvPr id="9" name="">
            <a:extLst xmlns:a="http://schemas.openxmlformats.org/drawingml/2006/main">
              <a:ext uri="{FF2B5EF4-FFF2-40B4-BE49-F238E27FC236}">
                <a16:creationId xmlns:a16="http://schemas.microsoft.com/office/drawing/2014/main" id="{28631726-05CC-48DF-B214-70D627683A36}"/>
              </a:ext>
            </a:extLst>
          </p:cNvPr>
          <p:cNvSpPr>
            <a:spLocks xmlns:a="http://schemas.openxmlformats.org/drawingml/2006/main" noGrp="1"/>
          </p:cNvSpPr>
          <p:nvPr/>
        </p:nvSpPr>
        <p:spPr>
          <a:xfrm xmlns:a="http://schemas.openxmlformats.org/drawingml/2006/main">
            <a:off x="6477000" y="3638550"/>
            <a:ext cx="247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B6FF3B"/>
                </a:solidFill>
                <a:latin typeface="Menlo"/>
                <a:ea typeface="Menlo"/>
                <a:cs typeface="Menlo"/>
              </a:defRPr>
            </a:pPr>
            <a:r>
              <a:rPr sz="1350" b="1">
                <a:solidFill>
                  <a:srgbClr val="B6FF3B"/>
                </a:solidFill>
                <a:latin typeface="Menlo"/>
                <a:ea typeface="Menlo"/>
                <a:cs typeface="Menlo"/>
              </a:rPr>
              <a:t>RELIABLE</a:t>
            </a:r>
          </a:p>
        </p:txBody>
      </p:sp>
      <p:sp>
        <p:nvSpPr>
          <p:cNvPr id="10" name="">
            <a:extLst xmlns:a="http://schemas.openxmlformats.org/drawingml/2006/main">
              <a:ext uri="{FF2B5EF4-FFF2-40B4-BE49-F238E27FC236}">
                <a16:creationId xmlns:a16="http://schemas.microsoft.com/office/drawing/2014/main" id="{47EFA529-86B9-4964-9E76-E516A9EF790F}"/>
              </a:ext>
            </a:extLst>
          </p:cNvPr>
          <p:cNvSpPr>
            <a:spLocks xmlns:a="http://schemas.openxmlformats.org/drawingml/2006/main" noGrp="1"/>
          </p:cNvSpPr>
          <p:nvPr/>
        </p:nvSpPr>
        <p:spPr>
          <a:xfrm xmlns:a="http://schemas.openxmlformats.org/drawingml/2006/main">
            <a:off x="6477000" y="4057650"/>
            <a:ext cx="476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94A19E"/>
                </a:solidFill>
                <a:latin typeface="Roboto"/>
                <a:ea typeface="Roboto"/>
                <a:cs typeface="Roboto"/>
              </a:defRPr>
            </a:pPr>
            <a:r>
              <a:rPr sz="1650" b="0">
                <a:solidFill>
                  <a:srgbClr val="94A19E"/>
                </a:solidFill>
                <a:latin typeface="Roboto"/>
                <a:ea typeface="Roboto"/>
                <a:cs typeface="Roboto"/>
              </a:rPr>
              <a:t>The game resolves the same rules and state for everyone.</a:t>
            </a:r>
          </a:p>
        </p:txBody>
      </p:sp>
      <p:sp>
        <p:nvSpPr>
          <p:cNvPr id="11" name="">
            <a:extLst xmlns:a="http://schemas.openxmlformats.org/drawingml/2006/main">
              <a:ext uri="{FF2B5EF4-FFF2-40B4-BE49-F238E27FC236}">
                <a16:creationId xmlns:a16="http://schemas.microsoft.com/office/drawing/2014/main" id="{2C04AD3B-D9AE-44D3-8172-8DEAEE4E9850}"/>
              </a:ext>
            </a:extLst>
          </p:cNvPr>
          <p:cNvSpPr>
            <a:spLocks xmlns:a="http://schemas.openxmlformats.org/drawingml/2006/main" noGrp="1"/>
          </p:cNvSpPr>
          <p:nvPr/>
        </p:nvSpPr>
        <p:spPr>
          <a:xfrm xmlns:a="http://schemas.openxmlformats.org/drawingml/2006/main">
            <a:off x="533400" y="556260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1">
                <a:solidFill>
                  <a:srgbClr val="FFC857"/>
                </a:solidFill>
                <a:latin typeface="Menlo"/>
                <a:ea typeface="Menlo"/>
                <a:cs typeface="Menlo"/>
              </a:defRPr>
            </a:pPr>
            <a:r>
              <a:rPr sz="2400" b="1">
                <a:solidFill>
                  <a:srgbClr val="FFC857"/>
                </a:solidFill>
                <a:latin typeface="Menlo"/>
                <a:ea typeface="Menlo"/>
                <a:cs typeface="Menlo"/>
              </a:rPr>
              <a:t>QUESTIONS?</a:t>
            </a:r>
          </a:p>
        </p:txBody>
      </p:sp>
    </p:spTree>
    <p:extLst>
      <p:ext uri="{BB962C8B-B14F-4D97-AF65-F5344CB8AC3E}">
        <p14:creationId xmlns:p14="http://schemas.microsoft.com/office/powerpoint/2010/main" val="13380628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2026-09-21T16:42:59.5820000Z</dcterms:created>
  <dcterms:modified xsi:type="dcterms:W3CDTF">2026-09-21T16:42:59.5820000Z</dcterms:modified>
</coreProperties>
</file>